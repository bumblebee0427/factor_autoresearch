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 varScale="1">
        <p:scale>
          <a:sx n="121" d="100"/>
          <a:sy n="121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3111D-D293-4245-7A4E-688755867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54D862-09F5-1ADE-290E-B1B2D3A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BEBDF-2E2D-E599-EB09-B4FF6C40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6D0F5-7213-8DD4-1230-1AC3A6EE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20E54-949D-5F09-4093-9F4B8FA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7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F2B47-5CB4-D603-24C1-192003EF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AC90F-E16A-AF3A-BDC3-53E8CD12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DC102-4CC0-8FF9-A309-261A53EE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74F51-357B-B1AA-6AF6-441C5BB9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A94DC-2C41-3437-1A2E-BBFE60EE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80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6F03E-120B-CB28-3BE0-13A653A8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7E123-C2B7-8AB5-F8D0-2AECE8208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B7A1D-98D8-8505-7012-9895A056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7B018-4470-6616-0A7B-0AB217F5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26EBC4-CEAB-3DB8-93C6-C729115F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507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307E8-2C6C-7681-6919-366E8F21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138FE-0F94-1EC3-ED51-0FDFE1825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6517B9-85BC-985B-D7AC-0949D0057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54F41-C4D6-37A7-8DAC-DE25E157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75D9F-DD20-8053-7222-9D272DD0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EDB4C-5B98-551D-AB99-51E40D93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58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5356A-4A42-5B3B-DE02-01932938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98F7B-EC94-D482-9917-1D99CF59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8C8847-A8F3-89F6-8A7F-182FBE4BB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1B47D5-47BD-7377-4443-64728C06B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0AC62B-7F6C-881C-BA99-355469090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C3B90D-14CC-C34E-C041-612CA269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4F4CD9-174C-3170-D72C-51764BE7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69FE0E-149C-FA46-4CE5-ADF6C0EC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23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BB5B0-3A75-3CBB-BE50-5EE60CED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4A36CD-9C33-5684-672B-D4C89A9C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13474D-BEAB-7749-0B1E-EE64DEB3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FE16B7-E8EF-5492-47D8-4313F9E4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33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E0388F-06DD-84D8-1CA0-855E616A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7575A6-224F-9F6D-BA1E-0F1D801E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49730-347F-C357-4685-7DB5197E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736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D747-42C5-0C75-8FC6-815213AE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7214B3-42E0-B242-7318-D22CC987D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676ACC-102A-2C4B-5930-D62ACF0B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30BEE-BC3D-4029-A29E-E81A8836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CFAE8C-BBB4-1FD7-DE74-A4C4AD54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912403-D34D-0617-FB3C-13CEECFD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90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7A1E7-C511-BBAB-B61E-1519071B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1CFD20-6A32-8C68-7E70-E66E32BB2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89D980-D182-D41D-57E2-E1CF75B60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71408-74F3-195C-6949-32A6714A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1823B-C705-9B39-F9B3-1E0983C6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4A83CB-A058-5D85-8FD2-7945969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26E8A-A554-4C5C-A8F6-33F725A4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D8963-1A04-5045-ABBF-E73B9B74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45B3F-AF5C-F49A-4E5E-44EAC695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47D8D-CBC8-8407-94E0-305B0DD5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1CF2E-56EE-264C-0451-1429693C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0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038A84-665B-0283-BF6E-82FD466F2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88A8F1-B501-149F-BF90-65788E5D3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BE49B-4B5F-0F90-C970-C0BA9A91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7933D-2983-B0B2-F8EF-7A457731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C367E-2D1B-87FA-30E7-346BC66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3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FADF18-6AC2-E774-AADF-92E2A72D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2D0D9F-CE66-2A2A-133D-347BCFA5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A9783-FBA4-76A3-1DD1-DF891D91F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78760-D9F7-784B-1CFB-B3396D2FF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6A7E7B-DAA5-AA7B-76D6-267F6BD08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6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title"/>
          <p:cNvSpPr txBox="1"/>
          <p:nvPr/>
        </p:nvSpPr>
        <p:spPr>
          <a:xfrm>
            <a:off x="742950" y="1314450"/>
            <a:ext cx="10382250" cy="1714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</a:rPr>
              <a:t>Autonomous Factor</a:t>
            </a:r>
            <a:endParaRPr lang="en-US" sz="5400"/>
          </a:p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</a:rPr>
              <a:t>Research</a:t>
            </a:r>
            <a:endParaRPr lang="en-US" sz="5400"/>
          </a:p>
        </p:txBody>
      </p:sp>
      <p:sp>
        <p:nvSpPr>
          <p:cNvPr id="3" name="Subtitle"/>
          <p:cNvSpPr txBox="1"/>
          <p:nvPr/>
        </p:nvSpPr>
        <p:spPr>
          <a:xfrm>
            <a:off x="781050" y="3476625"/>
            <a:ext cx="103346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500" b="0">
                <a:solidFill>
                  <a:srgbClr val="BFE9E8"/>
                </a:solidFill>
                <a:latin typeface="Arial"/>
              </a:rPr>
              <a:t>A controlled search process and a one-shot 2016 holdout</a:t>
            </a:r>
            <a:endParaRPr lang="en-US" sz="2500"/>
          </a:p>
        </p:txBody>
      </p:sp>
      <p:sp>
        <p:nvSpPr>
          <p:cNvPr id="4" name="Context"/>
          <p:cNvSpPr txBox="1"/>
          <p:nvPr/>
        </p:nvSpPr>
        <p:spPr>
          <a:xfrm>
            <a:off x="781050" y="5600700"/>
            <a:ext cx="85725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C7D6DC"/>
                </a:solidFill>
                <a:latin typeface="Arial"/>
              </a:rPr>
              <a:t>Anthelion Capital take-home  /  September 2026</a:t>
            </a:r>
            <a:endParaRPr lang="en-US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Research objective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02</a:t>
            </a:r>
            <a:endParaRPr lang="en-US" sz="1100"/>
          </a:p>
        </p:txBody>
      </p:sp>
      <p:sp>
        <p:nvSpPr>
          <p:cNvPr id="5" name="Problem statement"/>
          <p:cNvSpPr txBox="1"/>
          <p:nvPr/>
        </p:nvSpPr>
        <p:spPr>
          <a:xfrm>
            <a:off x="742950" y="1571625"/>
            <a:ext cx="10668000" cy="819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Automated search can discover a factor that looks good by chance.</a:t>
            </a:r>
            <a:endParaRPr lang="en-US" sz="3000"/>
          </a:p>
        </p:txBody>
      </p:sp>
      <p:sp>
        <p:nvSpPr>
          <p:cNvPr id="6" name="Objective 01"/>
          <p:cNvSpPr txBox="1"/>
          <p:nvPr/>
        </p:nvSpPr>
        <p:spPr>
          <a:xfrm>
            <a:off x="781050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01</a:t>
            </a:r>
            <a:endParaRPr lang="en-US" sz="3700"/>
          </a:p>
        </p:txBody>
      </p:sp>
      <p:sp>
        <p:nvSpPr>
          <p:cNvPr id="7" name="Objective 01 heading"/>
          <p:cNvSpPr txBox="1"/>
          <p:nvPr/>
        </p:nvSpPr>
        <p:spPr>
          <a:xfrm>
            <a:off x="781050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Constrain proposals</a:t>
            </a:r>
            <a:endParaRPr lang="en-US" sz="2200"/>
          </a:p>
        </p:txBody>
      </p:sp>
      <p:sp>
        <p:nvSpPr>
          <p:cNvPr id="8" name="Objective 01 detail"/>
          <p:cNvSpPr txBox="1"/>
          <p:nvPr/>
        </p:nvSpPr>
        <p:spPr>
          <a:xfrm>
            <a:off x="781050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The generator submits a typed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factor expression.</a:t>
            </a:r>
            <a:endParaRPr lang="en-US" sz="1900"/>
          </a:p>
        </p:txBody>
      </p:sp>
      <p:sp>
        <p:nvSpPr>
          <p:cNvPr id="9" name="Objective 02"/>
          <p:cNvSpPr txBox="1"/>
          <p:nvPr/>
        </p:nvSpPr>
        <p:spPr>
          <a:xfrm>
            <a:off x="4429125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02</a:t>
            </a:r>
            <a:endParaRPr lang="en-US" sz="3700"/>
          </a:p>
        </p:txBody>
      </p:sp>
      <p:sp>
        <p:nvSpPr>
          <p:cNvPr id="10" name="Objective 02 heading"/>
          <p:cNvSpPr txBox="1"/>
          <p:nvPr/>
        </p:nvSpPr>
        <p:spPr>
          <a:xfrm>
            <a:off x="4429125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Hold evaluation fixed</a:t>
            </a:r>
            <a:endParaRPr lang="en-US" sz="2200"/>
          </a:p>
        </p:txBody>
      </p:sp>
      <p:sp>
        <p:nvSpPr>
          <p:cNvPr id="11" name="Objective 02 detail"/>
          <p:cNvSpPr txBox="1"/>
          <p:nvPr/>
        </p:nvSpPr>
        <p:spPr>
          <a:xfrm>
            <a:off x="4429125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Every candidate faces the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same walk-forward protocol.</a:t>
            </a:r>
            <a:endParaRPr lang="en-US" sz="1900"/>
          </a:p>
        </p:txBody>
      </p:sp>
      <p:sp>
        <p:nvSpPr>
          <p:cNvPr id="12" name="Objective 03"/>
          <p:cNvSpPr txBox="1"/>
          <p:nvPr/>
        </p:nvSpPr>
        <p:spPr>
          <a:xfrm>
            <a:off x="8077200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03</a:t>
            </a:r>
            <a:endParaRPr lang="en-US" sz="3700"/>
          </a:p>
        </p:txBody>
      </p:sp>
      <p:sp>
        <p:nvSpPr>
          <p:cNvPr id="13" name="Objective 03 heading"/>
          <p:cNvSpPr txBox="1"/>
          <p:nvPr/>
        </p:nvSpPr>
        <p:spPr>
          <a:xfrm>
            <a:off x="8077200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Protect the final test</a:t>
            </a:r>
            <a:endParaRPr lang="en-US" sz="2200"/>
          </a:p>
        </p:txBody>
      </p:sp>
      <p:sp>
        <p:nvSpPr>
          <p:cNvPr id="14" name="Objective 03 detail"/>
          <p:cNvSpPr txBox="1"/>
          <p:nvPr/>
        </p:nvSpPr>
        <p:spPr>
          <a:xfrm>
            <a:off x="8077200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Freeze the library before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opening 2016 once.</a:t>
            </a:r>
            <a:endParaRPr lang="en-US" sz="1900"/>
          </a:p>
        </p:txBody>
      </p:sp>
      <p:sp>
        <p:nvSpPr>
          <p:cNvPr id="15" name="Decision standard"/>
          <p:cNvSpPr txBox="1"/>
          <p:nvPr/>
        </p:nvSpPr>
        <p:spPr>
          <a:xfrm>
            <a:off x="781050" y="5648325"/>
            <a:ext cx="1057275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The deliverable is an auditable sequence of decisions and a final out-of-sample observation.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Research loop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03</a:t>
            </a:r>
            <a:endParaRPr lang="en-US" sz="1100"/>
          </a:p>
        </p:txBody>
      </p:sp>
      <p:sp>
        <p:nvSpPr>
          <p:cNvPr id="5" name="Process baseline"/>
          <p:cNvSpPr/>
          <p:nvPr/>
        </p:nvSpPr>
        <p:spPr>
          <a:xfrm>
            <a:off x="952500" y="2486025"/>
            <a:ext cx="10287000" cy="285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tage 1"/>
          <p:cNvSpPr/>
          <p:nvPr/>
        </p:nvSpPr>
        <p:spPr>
          <a:xfrm>
            <a:off x="11811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tage 1 number"/>
          <p:cNvSpPr txBox="1"/>
          <p:nvPr/>
        </p:nvSpPr>
        <p:spPr>
          <a:xfrm>
            <a:off x="11811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1</a:t>
            </a:r>
            <a:endParaRPr lang="en-US" sz="2100"/>
          </a:p>
        </p:txBody>
      </p:sp>
      <p:sp>
        <p:nvSpPr>
          <p:cNvPr id="8" name="Stage 1 title"/>
          <p:cNvSpPr txBox="1"/>
          <p:nvPr/>
        </p:nvSpPr>
        <p:spPr>
          <a:xfrm>
            <a:off x="6096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Macro</a:t>
            </a:r>
            <a:endParaRPr lang="en-US" sz="2200"/>
          </a:p>
        </p:txBody>
      </p:sp>
      <p:sp>
        <p:nvSpPr>
          <p:cNvPr id="9" name="Stage 1 detail"/>
          <p:cNvSpPr txBox="1"/>
          <p:nvPr/>
        </p:nvSpPr>
        <p:spPr>
          <a:xfrm>
            <a:off x="6096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Choose action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budget</a:t>
            </a:r>
            <a:endParaRPr lang="en-US" sz="1700"/>
          </a:p>
        </p:txBody>
      </p:sp>
      <p:sp>
        <p:nvSpPr>
          <p:cNvPr id="10" name="Stage 2"/>
          <p:cNvSpPr/>
          <p:nvPr/>
        </p:nvSpPr>
        <p:spPr>
          <a:xfrm>
            <a:off x="302895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tage 2 number"/>
          <p:cNvSpPr txBox="1"/>
          <p:nvPr/>
        </p:nvSpPr>
        <p:spPr>
          <a:xfrm>
            <a:off x="30289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2</a:t>
            </a:r>
            <a:endParaRPr lang="en-US" sz="2100"/>
          </a:p>
        </p:txBody>
      </p:sp>
      <p:sp>
        <p:nvSpPr>
          <p:cNvPr id="12" name="Stage 2 title"/>
          <p:cNvSpPr txBox="1"/>
          <p:nvPr/>
        </p:nvSpPr>
        <p:spPr>
          <a:xfrm>
            <a:off x="24574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Micro</a:t>
            </a:r>
            <a:endParaRPr lang="en-US" sz="2200"/>
          </a:p>
        </p:txBody>
      </p:sp>
      <p:sp>
        <p:nvSpPr>
          <p:cNvPr id="13" name="Stage 2 detail"/>
          <p:cNvSpPr txBox="1"/>
          <p:nvPr/>
        </p:nvSpPr>
        <p:spPr>
          <a:xfrm>
            <a:off x="24574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Propose factor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AST</a:t>
            </a:r>
            <a:endParaRPr lang="en-US" sz="1700"/>
          </a:p>
        </p:txBody>
      </p:sp>
      <p:sp>
        <p:nvSpPr>
          <p:cNvPr id="14" name="Stage 3"/>
          <p:cNvSpPr/>
          <p:nvPr/>
        </p:nvSpPr>
        <p:spPr>
          <a:xfrm>
            <a:off x="48768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age 3 number"/>
          <p:cNvSpPr txBox="1"/>
          <p:nvPr/>
        </p:nvSpPr>
        <p:spPr>
          <a:xfrm>
            <a:off x="48768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3</a:t>
            </a:r>
            <a:endParaRPr lang="en-US" sz="2100"/>
          </a:p>
        </p:txBody>
      </p:sp>
      <p:sp>
        <p:nvSpPr>
          <p:cNvPr id="16" name="Stage 3 title"/>
          <p:cNvSpPr txBox="1"/>
          <p:nvPr/>
        </p:nvSpPr>
        <p:spPr>
          <a:xfrm>
            <a:off x="43053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Validate</a:t>
            </a:r>
            <a:endParaRPr lang="en-US" sz="2200"/>
          </a:p>
        </p:txBody>
      </p:sp>
      <p:sp>
        <p:nvSpPr>
          <p:cNvPr id="17" name="Stage 3 detail"/>
          <p:cNvSpPr txBox="1"/>
          <p:nvPr/>
        </p:nvSpPr>
        <p:spPr>
          <a:xfrm>
            <a:off x="43053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Check DSL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leakage</a:t>
            </a:r>
            <a:endParaRPr lang="en-US" sz="1700"/>
          </a:p>
        </p:txBody>
      </p:sp>
      <p:sp>
        <p:nvSpPr>
          <p:cNvPr id="18" name="Stage 4"/>
          <p:cNvSpPr/>
          <p:nvPr/>
        </p:nvSpPr>
        <p:spPr>
          <a:xfrm>
            <a:off x="672465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tage 4 number"/>
          <p:cNvSpPr txBox="1"/>
          <p:nvPr/>
        </p:nvSpPr>
        <p:spPr>
          <a:xfrm>
            <a:off x="67246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4</a:t>
            </a:r>
            <a:endParaRPr lang="en-US" sz="2100"/>
          </a:p>
        </p:txBody>
      </p:sp>
      <p:sp>
        <p:nvSpPr>
          <p:cNvPr id="20" name="Stage 4 title"/>
          <p:cNvSpPr txBox="1"/>
          <p:nvPr/>
        </p:nvSpPr>
        <p:spPr>
          <a:xfrm>
            <a:off x="61531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Build</a:t>
            </a:r>
            <a:endParaRPr lang="en-US" sz="2200"/>
          </a:p>
        </p:txBody>
      </p:sp>
      <p:sp>
        <p:nvSpPr>
          <p:cNvPr id="21" name="Stage 4 detail"/>
          <p:cNvSpPr txBox="1"/>
          <p:nvPr/>
        </p:nvSpPr>
        <p:spPr>
          <a:xfrm>
            <a:off x="61531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Execute fixed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operators</a:t>
            </a:r>
            <a:endParaRPr lang="en-US" sz="1700"/>
          </a:p>
        </p:txBody>
      </p:sp>
      <p:sp>
        <p:nvSpPr>
          <p:cNvPr id="22" name="Stage 5"/>
          <p:cNvSpPr/>
          <p:nvPr/>
        </p:nvSpPr>
        <p:spPr>
          <a:xfrm>
            <a:off x="85725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tage 5 number"/>
          <p:cNvSpPr txBox="1"/>
          <p:nvPr/>
        </p:nvSpPr>
        <p:spPr>
          <a:xfrm>
            <a:off x="85725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5</a:t>
            </a:r>
            <a:endParaRPr lang="en-US" sz="2100"/>
          </a:p>
        </p:txBody>
      </p:sp>
      <p:sp>
        <p:nvSpPr>
          <p:cNvPr id="24" name="Stage 5 title"/>
          <p:cNvSpPr txBox="1"/>
          <p:nvPr/>
        </p:nvSpPr>
        <p:spPr>
          <a:xfrm>
            <a:off x="80010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Evaluate</a:t>
            </a:r>
            <a:endParaRPr lang="en-US" sz="2200"/>
          </a:p>
        </p:txBody>
      </p:sp>
      <p:sp>
        <p:nvSpPr>
          <p:cNvPr id="25" name="Stage 5 detail"/>
          <p:cNvSpPr txBox="1"/>
          <p:nvPr/>
        </p:nvSpPr>
        <p:spPr>
          <a:xfrm>
            <a:off x="80010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Score folds,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costs, gates</a:t>
            </a:r>
            <a:endParaRPr lang="en-US" sz="1700"/>
          </a:p>
        </p:txBody>
      </p:sp>
      <p:sp>
        <p:nvSpPr>
          <p:cNvPr id="26" name="Stage 6"/>
          <p:cNvSpPr/>
          <p:nvPr/>
        </p:nvSpPr>
        <p:spPr>
          <a:xfrm>
            <a:off x="10420350" y="2295525"/>
            <a:ext cx="400050" cy="400050"/>
          </a:xfrm>
          <a:prstGeom prst="ellipse">
            <a:avLst/>
          </a:prstGeom>
          <a:solidFill>
            <a:srgbClr val="142B3D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tage 6 number"/>
          <p:cNvSpPr txBox="1"/>
          <p:nvPr/>
        </p:nvSpPr>
        <p:spPr>
          <a:xfrm>
            <a:off x="104203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6</a:t>
            </a:r>
            <a:endParaRPr lang="en-US" sz="2100"/>
          </a:p>
        </p:txBody>
      </p:sp>
      <p:sp>
        <p:nvSpPr>
          <p:cNvPr id="28" name="Stage 6 title"/>
          <p:cNvSpPr txBox="1"/>
          <p:nvPr/>
        </p:nvSpPr>
        <p:spPr>
          <a:xfrm>
            <a:off x="98488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Cross</a:t>
            </a:r>
            <a:endParaRPr lang="en-US" sz="2200"/>
          </a:p>
        </p:txBody>
      </p:sp>
      <p:sp>
        <p:nvSpPr>
          <p:cNvPr id="29" name="Stage 6 detail"/>
          <p:cNvSpPr txBox="1"/>
          <p:nvPr/>
        </p:nvSpPr>
        <p:spPr>
          <a:xfrm>
            <a:off x="98488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Record lessons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route</a:t>
            </a:r>
            <a:endParaRPr lang="en-US" sz="1700"/>
          </a:p>
        </p:txBody>
      </p:sp>
      <p:sp>
        <p:nvSpPr>
          <p:cNvPr id="30" name="Controller actions"/>
          <p:cNvSpPr txBox="1"/>
          <p:nvPr/>
        </p:nvSpPr>
        <p:spPr>
          <a:xfrm>
            <a:off x="876300" y="5181600"/>
            <a:ext cx="10287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000" b="1">
                <a:solidFill>
                  <a:srgbClr val="087E86"/>
                </a:solidFill>
                <a:latin typeface="Arial"/>
              </a:rPr>
              <a:t>Macro actions: IMPROVE  /  COMBINE  /  PIVOT  /  STOP</a:t>
            </a:r>
            <a:endParaRPr lang="en-US" sz="2000"/>
          </a:p>
        </p:txBody>
      </p:sp>
      <p:sp>
        <p:nvSpPr>
          <p:cNvPr id="31" name="Boundary"/>
          <p:cNvSpPr txBox="1"/>
          <p:nvPr/>
        </p:nvSpPr>
        <p:spPr>
          <a:xfrm>
            <a:off x="876300" y="5715000"/>
            <a:ext cx="102870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800" b="0">
                <a:solidFill>
                  <a:srgbClr val="243744"/>
                </a:solidFill>
                <a:latin typeface="Arial"/>
              </a:rPr>
              <a:t>Brains propose and remember. Deterministic code constructs signals and applies the gates.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Brain responsibilities and decision inputs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04</a:t>
            </a:r>
            <a:endParaRPr lang="en-US" sz="1100"/>
          </a:p>
        </p:txBody>
      </p:sp>
      <p:sp>
        <p:nvSpPr>
          <p:cNvPr id="5" name="Brain subtitle"/>
          <p:cNvSpPr txBox="1"/>
          <p:nvPr/>
        </p:nvSpPr>
        <p:spPr>
          <a:xfrm>
            <a:off x="752475" y="1428750"/>
            <a:ext cx="106680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536672"/>
                </a:solidFill>
                <a:latin typeface="Arial"/>
              </a:rPr>
              <a:t>One research cycle, after each candidate receives the same deterministic evaluation</a:t>
            </a:r>
            <a:endParaRPr lang="en-US" sz="2000"/>
          </a:p>
        </p:txBody>
      </p:sp>
      <p:sp>
        <p:nvSpPr>
          <p:cNvPr id="6" name="Brain column BRAIN"/>
          <p:cNvSpPr txBox="1"/>
          <p:nvPr/>
        </p:nvSpPr>
        <p:spPr>
          <a:xfrm>
            <a:off x="762000" y="1971675"/>
            <a:ext cx="1714500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BRAIN</a:t>
            </a:r>
            <a:endParaRPr lang="en-US" sz="1600"/>
          </a:p>
        </p:txBody>
      </p:sp>
      <p:sp>
        <p:nvSpPr>
          <p:cNvPr id="7" name="Brain column READS"/>
          <p:cNvSpPr txBox="1"/>
          <p:nvPr/>
        </p:nvSpPr>
        <p:spPr>
          <a:xfrm>
            <a:off x="2781300" y="1971675"/>
            <a:ext cx="3762375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READS</a:t>
            </a:r>
            <a:endParaRPr lang="en-US" sz="1600"/>
          </a:p>
        </p:txBody>
      </p:sp>
      <p:sp>
        <p:nvSpPr>
          <p:cNvPr id="8" name="Brain column JUDGMENT AND OUTPUT"/>
          <p:cNvSpPr txBox="1"/>
          <p:nvPr/>
        </p:nvSpPr>
        <p:spPr>
          <a:xfrm>
            <a:off x="6838950" y="1971675"/>
            <a:ext cx="4562475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JUDGMENT AND OUTPUT</a:t>
            </a:r>
            <a:endParaRPr lang="en-US" sz="1600"/>
          </a:p>
        </p:txBody>
      </p:sp>
      <p:sp>
        <p:nvSpPr>
          <p:cNvPr id="9" name="Brain header rule"/>
          <p:cNvSpPr/>
          <p:nvPr/>
        </p:nvSpPr>
        <p:spPr>
          <a:xfrm>
            <a:off x="752475" y="2352675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rain role MACRO"/>
          <p:cNvSpPr txBox="1"/>
          <p:nvPr/>
        </p:nvSpPr>
        <p:spPr>
          <a:xfrm>
            <a:off x="762000" y="2600325"/>
            <a:ext cx="17145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MACRO</a:t>
            </a:r>
            <a:endParaRPr lang="en-US" sz="2200"/>
          </a:p>
        </p:txBody>
      </p:sp>
      <p:sp>
        <p:nvSpPr>
          <p:cNvPr id="11" name="Brain reads MACRO"/>
          <p:cNvSpPr txBox="1"/>
          <p:nvPr/>
        </p:nvSpPr>
        <p:spPr>
          <a:xfrm>
            <a:off x="2781300" y="2552700"/>
            <a:ext cx="3762375" cy="828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Coverage, failed gates, Parent clusters,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Elite archive and remaining budget</a:t>
            </a:r>
            <a:endParaRPr lang="en-US" sz="1600"/>
          </a:p>
        </p:txBody>
      </p:sp>
      <p:sp>
        <p:nvSpPr>
          <p:cNvPr id="12" name="Brain output MACRO"/>
          <p:cNvSpPr txBox="1"/>
          <p:nvPr/>
        </p:nvSpPr>
        <p:spPr>
          <a:xfrm>
            <a:off x="6838950" y="2552700"/>
            <a:ext cx="4562475" cy="838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Selects IMPROVE / COMBINE / PIVOT / STOP;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sets mechanism, parents, repair target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and proposal budget.</a:t>
            </a:r>
            <a:endParaRPr lang="en-US" sz="1600"/>
          </a:p>
        </p:txBody>
      </p:sp>
      <p:sp>
        <p:nvSpPr>
          <p:cNvPr id="13" name="Brain row rule 0"/>
          <p:cNvSpPr/>
          <p:nvPr/>
        </p:nvSpPr>
        <p:spPr>
          <a:xfrm>
            <a:off x="752475" y="349567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rain role MICRO"/>
          <p:cNvSpPr txBox="1"/>
          <p:nvPr/>
        </p:nvSpPr>
        <p:spPr>
          <a:xfrm>
            <a:off x="762000" y="3667125"/>
            <a:ext cx="17145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MICRO</a:t>
            </a:r>
            <a:endParaRPr lang="en-US" sz="2200"/>
          </a:p>
        </p:txBody>
      </p:sp>
      <p:sp>
        <p:nvSpPr>
          <p:cNvPr id="15" name="Brain reads MICRO"/>
          <p:cNvSpPr txBox="1"/>
          <p:nvPr/>
        </p:nvSpPr>
        <p:spPr>
          <a:xfrm>
            <a:off x="2781300" y="3619500"/>
            <a:ext cx="3762375" cy="828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Macro plan, eligible Parent specs,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experiment history and tested formulas</a:t>
            </a:r>
            <a:endParaRPr lang="en-US" sz="1600"/>
          </a:p>
        </p:txBody>
      </p:sp>
      <p:sp>
        <p:nvSpPr>
          <p:cNvPr id="16" name="Brain output MICRO"/>
          <p:cNvSpPr txBox="1"/>
          <p:nvPr/>
        </p:nvSpPr>
        <p:spPr>
          <a:xfrm>
            <a:off x="6838950" y="3619500"/>
            <a:ext cx="4562475" cy="838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Proposes bounded FactorSpec ASTs; records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hypothesis, lineage, expected metric effect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and falsification condition.</a:t>
            </a:r>
            <a:endParaRPr lang="en-US" sz="1600"/>
          </a:p>
        </p:txBody>
      </p:sp>
      <p:sp>
        <p:nvSpPr>
          <p:cNvPr id="17" name="Brain row rule 1"/>
          <p:cNvSpPr/>
          <p:nvPr/>
        </p:nvSpPr>
        <p:spPr>
          <a:xfrm>
            <a:off x="752475" y="456247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Brain role CROSS"/>
          <p:cNvSpPr txBox="1"/>
          <p:nvPr/>
        </p:nvSpPr>
        <p:spPr>
          <a:xfrm>
            <a:off x="762000" y="4733925"/>
            <a:ext cx="17145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CROSS</a:t>
            </a:r>
            <a:endParaRPr lang="en-US" sz="2200"/>
          </a:p>
        </p:txBody>
      </p:sp>
      <p:sp>
        <p:nvSpPr>
          <p:cNvPr id="19" name="Brain reads CROSS"/>
          <p:cNvSpPr txBox="1"/>
          <p:nvPr/>
        </p:nvSpPr>
        <p:spPr>
          <a:xfrm>
            <a:off x="2781300" y="4686300"/>
            <a:ext cx="3762375" cy="828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Metrics, gate and integrity failures,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new Parent / Elite, cluster admissions</a:t>
            </a:r>
            <a:endParaRPr lang="en-US" sz="1600"/>
          </a:p>
        </p:txBody>
      </p:sp>
      <p:sp>
        <p:nvSpPr>
          <p:cNvPr id="20" name="Brain output CROSS"/>
          <p:cNvSpPr txBox="1"/>
          <p:nvPr/>
        </p:nvSpPr>
        <p:spPr>
          <a:xfrm>
            <a:off x="6838950" y="4686300"/>
            <a:ext cx="4562475" cy="838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Updates GOOD / BAD lessons, mechanism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stats and stagnation in ResearchMemory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for the next Macro decision.</a:t>
            </a:r>
            <a:endParaRPr lang="en-US" sz="1600"/>
          </a:p>
        </p:txBody>
      </p:sp>
      <p:sp>
        <p:nvSpPr>
          <p:cNvPr id="21" name="Brain row rule 2"/>
          <p:cNvSpPr/>
          <p:nvPr/>
        </p:nvSpPr>
        <p:spPr>
          <a:xfrm>
            <a:off x="752475" y="562927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Brain operating boundary"/>
          <p:cNvSpPr txBox="1"/>
          <p:nvPr/>
        </p:nvSpPr>
        <p:spPr>
          <a:xfrm>
            <a:off x="762000" y="5905500"/>
            <a:ext cx="10620375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After coverage, Macro and Micro may use LLMs. Cross and all scoring gates remain deterministic.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Factor AST: structure, checks and deduplication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05</a:t>
            </a:r>
            <a:endParaRPr lang="en-US" sz="1100"/>
          </a:p>
        </p:txBody>
      </p:sp>
      <p:sp>
        <p:nvSpPr>
          <p:cNvPr id="5" name="AST example label"/>
          <p:cNvSpPr txBox="1"/>
          <p:nvPr/>
        </p:nvSpPr>
        <p:spPr>
          <a:xfrm>
            <a:off x="762000" y="1457325"/>
            <a:ext cx="4762500" cy="2762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EXAMPLE: RESEARCH ELITE</a:t>
            </a:r>
            <a:endParaRPr lang="en-US" sz="1600"/>
          </a:p>
        </p:txBody>
      </p:sp>
      <p:sp>
        <p:nvSpPr>
          <p:cNvPr id="6" name="AST example formula"/>
          <p:cNvSpPr txBox="1"/>
          <p:nvPr/>
        </p:nvSpPr>
        <p:spPr>
          <a:xfrm>
            <a:off x="762000" y="1819275"/>
            <a:ext cx="10620375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sub(cs_rank(after_tax_roe), cs_rank(news_volume[60]))</a:t>
            </a:r>
            <a:endParaRPr lang="en-US" sz="2400"/>
          </a:p>
        </p:txBody>
      </p:sp>
      <p:sp>
        <p:nvSpPr>
          <p:cNvPr id="7" name="AST formula rule"/>
          <p:cNvSpPr/>
          <p:nvPr/>
        </p:nvSpPr>
        <p:spPr>
          <a:xfrm>
            <a:off x="752475" y="2324100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ST structure label"/>
          <p:cNvSpPr txBox="1"/>
          <p:nvPr/>
        </p:nvSpPr>
        <p:spPr>
          <a:xfrm>
            <a:off x="762000" y="2562225"/>
            <a:ext cx="466725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TYPED TREE</a:t>
            </a:r>
            <a:endParaRPr lang="en-US" sz="1600"/>
          </a:p>
        </p:txBody>
      </p:sp>
      <p:sp>
        <p:nvSpPr>
          <p:cNvPr id="9" name="AST root"/>
          <p:cNvSpPr txBox="1"/>
          <p:nvPr/>
        </p:nvSpPr>
        <p:spPr>
          <a:xfrm>
            <a:off x="800100" y="3019425"/>
            <a:ext cx="45720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Op: sub</a:t>
            </a:r>
            <a:endParaRPr lang="en-US" sz="2200"/>
          </a:p>
        </p:txBody>
      </p:sp>
      <p:sp>
        <p:nvSpPr>
          <p:cNvPr id="10" name="AST left branch"/>
          <p:cNvSpPr txBox="1"/>
          <p:nvPr/>
        </p:nvSpPr>
        <p:spPr>
          <a:xfrm>
            <a:off x="800100" y="3486150"/>
            <a:ext cx="46672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  cs_rank(after_tax_roe)</a:t>
            </a:r>
            <a:endParaRPr lang="en-US" sz="1900"/>
          </a:p>
        </p:txBody>
      </p:sp>
      <p:sp>
        <p:nvSpPr>
          <p:cNvPr id="11" name="AST right branch"/>
          <p:cNvSpPr txBox="1"/>
          <p:nvPr/>
        </p:nvSpPr>
        <p:spPr>
          <a:xfrm>
            <a:off x="800100" y="3990975"/>
            <a:ext cx="46672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  cs_rank(news_volume[60])</a:t>
            </a:r>
            <a:endParaRPr lang="en-US" sz="1900"/>
          </a:p>
        </p:txBody>
      </p:sp>
      <p:sp>
        <p:nvSpPr>
          <p:cNvPr id="12" name="AST metadata"/>
          <p:cNvSpPr txBox="1"/>
          <p:nvPr/>
        </p:nvSpPr>
        <p:spPr>
          <a:xfrm>
            <a:off x="800100" y="4686300"/>
            <a:ext cx="4667250" cy="990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Features encode input and window; nodes expose</a:t>
            </a:r>
            <a:endParaRPr lang="en-US" sz="1600"/>
          </a:p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history 60, complexity 3 and depth 2.</a:t>
            </a:r>
            <a:endParaRPr lang="en-US" sz="1600"/>
          </a:p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Canonicalizer sorts commutative children</a:t>
            </a:r>
            <a:endParaRPr lang="en-US" sz="1600"/>
          </a:p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and params; text dedupes, hash identifies.</a:t>
            </a:r>
            <a:endParaRPr lang="en-US" sz="1600"/>
          </a:p>
        </p:txBody>
      </p:sp>
      <p:sp>
        <p:nvSpPr>
          <p:cNvPr id="13" name="AST column divider"/>
          <p:cNvSpPr/>
          <p:nvPr/>
        </p:nvSpPr>
        <p:spPr>
          <a:xfrm>
            <a:off x="5724525" y="2609850"/>
            <a:ext cx="19050" cy="29622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ST checks label"/>
          <p:cNvSpPr txBox="1"/>
          <p:nvPr/>
        </p:nvSpPr>
        <p:spPr>
          <a:xfrm>
            <a:off x="6029325" y="2562225"/>
            <a:ext cx="533400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CHECKS BEFORE SCORING</a:t>
            </a:r>
            <a:endParaRPr lang="en-US" sz="1600"/>
          </a:p>
        </p:txBody>
      </p:sp>
      <p:sp>
        <p:nvSpPr>
          <p:cNvPr id="15" name="AST grammar check"/>
          <p:cNvSpPr txBox="1"/>
          <p:nvPr/>
        </p:nvSpPr>
        <p:spPr>
          <a:xfrm>
            <a:off x="6048375" y="2952750"/>
            <a:ext cx="528637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142B3D"/>
                </a:solidFill>
                <a:latin typeface="Arial"/>
              </a:rPr>
              <a:t>1  Grammar and inputs</a:t>
            </a:r>
            <a:endParaRPr lang="en-US" sz="2000"/>
          </a:p>
        </p:txBody>
      </p:sp>
      <p:sp>
        <p:nvSpPr>
          <p:cNvPr id="16" name="AST grammar detail"/>
          <p:cNvSpPr txBox="1"/>
          <p:nvPr/>
        </p:nvSpPr>
        <p:spPr>
          <a:xfrm>
            <a:off x="6315075" y="3276600"/>
            <a:ext cx="495300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Allowed features/operators, arity and parameters.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Groups: sector or subindustry.</a:t>
            </a:r>
            <a:endParaRPr lang="en-US" sz="1600"/>
          </a:p>
        </p:txBody>
      </p:sp>
      <p:sp>
        <p:nvSpPr>
          <p:cNvPr id="17" name="AST limits check"/>
          <p:cNvSpPr txBox="1"/>
          <p:nvPr/>
        </p:nvSpPr>
        <p:spPr>
          <a:xfrm>
            <a:off x="6048375" y="3905250"/>
            <a:ext cx="528637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142B3D"/>
                </a:solidFill>
                <a:latin typeface="Arial"/>
              </a:rPr>
              <a:t>2  Complexity limits</a:t>
            </a:r>
            <a:endParaRPr lang="en-US" sz="2000"/>
          </a:p>
        </p:txBody>
      </p:sp>
      <p:sp>
        <p:nvSpPr>
          <p:cNvPr id="18" name="AST limits detail"/>
          <p:cNvSpPr txBox="1"/>
          <p:nvPr/>
        </p:nvSpPr>
        <p:spPr>
          <a:xfrm>
            <a:off x="6315075" y="4229100"/>
            <a:ext cx="495300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Cost &lt;= 4; depth &lt;= 5; operators &lt;= 6.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Separate rolling, binary and group caps.</a:t>
            </a:r>
            <a:endParaRPr lang="en-US" sz="1600"/>
          </a:p>
        </p:txBody>
      </p:sp>
      <p:sp>
        <p:nvSpPr>
          <p:cNvPr id="19" name="AST causality check"/>
          <p:cNvSpPr txBox="1"/>
          <p:nvPr/>
        </p:nvSpPr>
        <p:spPr>
          <a:xfrm>
            <a:off x="6048375" y="4857750"/>
            <a:ext cx="528637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142B3D"/>
                </a:solidFill>
                <a:latin typeface="Arial"/>
              </a:rPr>
              <a:t>3  Causality and deduplication</a:t>
            </a:r>
            <a:endParaRPr lang="en-US" sz="2000"/>
          </a:p>
        </p:txBody>
      </p:sp>
      <p:sp>
        <p:nvSpPr>
          <p:cNvPr id="20" name="AST causality detail"/>
          <p:cNvSpPr txBox="1"/>
          <p:nvPr/>
        </p:nvSpPr>
        <p:spPr>
          <a:xfrm>
            <a:off x="6315075" y="5181600"/>
            <a:ext cx="4953000" cy="723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Static: reject future_return, negative shifts.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Dynamic: truncation / future-noise tests.</a:t>
            </a:r>
            <a:endParaRPr lang="en-US" sz="1600"/>
          </a:p>
          <a:p>
            <a:pPr algn="l"/>
            <a:r>
              <a:rPr lang="en-US" sz="1600" b="0">
                <a:solidFill>
                  <a:srgbClr val="243744"/>
                </a:solidFill>
                <a:latin typeface="Arial"/>
              </a:rPr>
              <a:t>Canonical text rejects exact repeats.</a:t>
            </a:r>
            <a:endParaRPr lang="en-US" sz="1600"/>
          </a:p>
        </p:txBody>
      </p:sp>
      <p:sp>
        <p:nvSpPr>
          <p:cNvPr id="21" name="AST caveat"/>
          <p:cNvSpPr txBox="1"/>
          <p:nvPr/>
        </p:nvSpPr>
        <p:spPr>
          <a:xfrm>
            <a:off x="762000" y="6096000"/>
            <a:ext cx="10620375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B93F47"/>
                </a:solidFill>
                <a:latin typeface="Arial"/>
              </a:rPr>
              <a:t>A valid AST constrains search; it cannot prove tradability or out-of-sample alpha.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Point-in-time data and integrity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06</a:t>
            </a:r>
            <a:endParaRPr lang="en-US" sz="1100"/>
          </a:p>
        </p:txBody>
      </p:sp>
      <p:sp>
        <p:nvSpPr>
          <p:cNvPr id="5" name="Timeline subtitle"/>
          <p:cNvSpPr txBox="1"/>
          <p:nvPr/>
        </p:nvSpPr>
        <p:spPr>
          <a:xfrm>
            <a:off x="742950" y="1466850"/>
            <a:ext cx="106680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536672"/>
                </a:solidFill>
                <a:latin typeface="Arial"/>
              </a:rPr>
              <a:t>Expanding research folds; a physically separate final year</a:t>
            </a:r>
            <a:endParaRPr lang="en-US" sz="2000"/>
          </a:p>
        </p:txBody>
      </p:sp>
      <p:sp>
        <p:nvSpPr>
          <p:cNvPr id="6" name="Timeline"/>
          <p:cNvSpPr/>
          <p:nvPr/>
        </p:nvSpPr>
        <p:spPr>
          <a:xfrm>
            <a:off x="1000125" y="2667000"/>
            <a:ext cx="10096500" cy="285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Year 2010–12"/>
          <p:cNvSpPr/>
          <p:nvPr/>
        </p:nvSpPr>
        <p:spPr>
          <a:xfrm>
            <a:off x="10477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Year label 2010–12"/>
          <p:cNvSpPr txBox="1"/>
          <p:nvPr/>
        </p:nvSpPr>
        <p:spPr>
          <a:xfrm>
            <a:off x="6191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2010–12</a:t>
            </a:r>
            <a:endParaRPr lang="en-US" sz="2300"/>
          </a:p>
        </p:txBody>
      </p:sp>
      <p:sp>
        <p:nvSpPr>
          <p:cNvPr id="9" name="Year detail 2010–12"/>
          <p:cNvSpPr txBox="1"/>
          <p:nvPr/>
        </p:nvSpPr>
        <p:spPr>
          <a:xfrm>
            <a:off x="5905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Initial history</a:t>
            </a:r>
            <a:endParaRPr lang="en-US" sz="1600"/>
          </a:p>
        </p:txBody>
      </p:sp>
      <p:sp>
        <p:nvSpPr>
          <p:cNvPr id="10" name="Year 2013"/>
          <p:cNvSpPr/>
          <p:nvPr/>
        </p:nvSpPr>
        <p:spPr>
          <a:xfrm>
            <a:off x="37909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Year label 2013"/>
          <p:cNvSpPr txBox="1"/>
          <p:nvPr/>
        </p:nvSpPr>
        <p:spPr>
          <a:xfrm>
            <a:off x="33623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2013</a:t>
            </a:r>
            <a:endParaRPr lang="en-US" sz="2300"/>
          </a:p>
        </p:txBody>
      </p:sp>
      <p:sp>
        <p:nvSpPr>
          <p:cNvPr id="12" name="Year detail 2013"/>
          <p:cNvSpPr txBox="1"/>
          <p:nvPr/>
        </p:nvSpPr>
        <p:spPr>
          <a:xfrm>
            <a:off x="33337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3" name="Year 2014"/>
          <p:cNvSpPr/>
          <p:nvPr/>
        </p:nvSpPr>
        <p:spPr>
          <a:xfrm>
            <a:off x="5953125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Year label 2014"/>
          <p:cNvSpPr txBox="1"/>
          <p:nvPr/>
        </p:nvSpPr>
        <p:spPr>
          <a:xfrm>
            <a:off x="5524500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2014</a:t>
            </a:r>
            <a:endParaRPr lang="en-US" sz="2300"/>
          </a:p>
        </p:txBody>
      </p:sp>
      <p:sp>
        <p:nvSpPr>
          <p:cNvPr id="15" name="Year detail 2014"/>
          <p:cNvSpPr txBox="1"/>
          <p:nvPr/>
        </p:nvSpPr>
        <p:spPr>
          <a:xfrm>
            <a:off x="5495925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6" name="Year 2015"/>
          <p:cNvSpPr/>
          <p:nvPr/>
        </p:nvSpPr>
        <p:spPr>
          <a:xfrm>
            <a:off x="80962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Year label 2015"/>
          <p:cNvSpPr txBox="1"/>
          <p:nvPr/>
        </p:nvSpPr>
        <p:spPr>
          <a:xfrm>
            <a:off x="76676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2015</a:t>
            </a:r>
            <a:endParaRPr lang="en-US" sz="2300"/>
          </a:p>
        </p:txBody>
      </p:sp>
      <p:sp>
        <p:nvSpPr>
          <p:cNvPr id="18" name="Year detail 2015"/>
          <p:cNvSpPr txBox="1"/>
          <p:nvPr/>
        </p:nvSpPr>
        <p:spPr>
          <a:xfrm>
            <a:off x="76390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9" name="Year 2016"/>
          <p:cNvSpPr/>
          <p:nvPr/>
        </p:nvSpPr>
        <p:spPr>
          <a:xfrm>
            <a:off x="10344150" y="2533650"/>
            <a:ext cx="295275" cy="295275"/>
          </a:xfrm>
          <a:prstGeom prst="ellipse">
            <a:avLst/>
          </a:prstGeom>
          <a:solidFill>
            <a:srgbClr val="B93F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Year label 2016"/>
          <p:cNvSpPr txBox="1"/>
          <p:nvPr/>
        </p:nvSpPr>
        <p:spPr>
          <a:xfrm>
            <a:off x="99155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2016</a:t>
            </a:r>
            <a:endParaRPr lang="en-US" sz="2300"/>
          </a:p>
        </p:txBody>
      </p:sp>
      <p:sp>
        <p:nvSpPr>
          <p:cNvPr id="21" name="Year detail 2016"/>
          <p:cNvSpPr txBox="1"/>
          <p:nvPr/>
        </p:nvSpPr>
        <p:spPr>
          <a:xfrm>
            <a:off x="98869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B93F47"/>
                </a:solidFill>
                <a:latin typeface="Arial"/>
              </a:rPr>
              <a:t>Final holdout</a:t>
            </a:r>
            <a:endParaRPr lang="en-US" sz="1600"/>
          </a:p>
        </p:txBody>
      </p:sp>
      <p:sp>
        <p:nvSpPr>
          <p:cNvPr id="22" name="Fundamentals heading"/>
          <p:cNvSpPr txBox="1"/>
          <p:nvPr/>
        </p:nvSpPr>
        <p:spPr>
          <a:xfrm>
            <a:off x="762000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Fundamentals</a:t>
            </a:r>
            <a:endParaRPr lang="en-US" sz="2200"/>
          </a:p>
        </p:txBody>
      </p:sp>
      <p:sp>
        <p:nvSpPr>
          <p:cNvPr id="23" name="Fundamentals detail"/>
          <p:cNvSpPr txBox="1"/>
          <p:nvPr/>
        </p:nvSpPr>
        <p:spPr>
          <a:xfrm>
            <a:off x="762000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90-day availability lag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from fiscal period end</a:t>
            </a:r>
            <a:endParaRPr lang="en-US" sz="1900"/>
          </a:p>
        </p:txBody>
      </p:sp>
      <p:sp>
        <p:nvSpPr>
          <p:cNvPr id="24" name="News heading"/>
          <p:cNvSpPr txBox="1"/>
          <p:nvPr/>
        </p:nvSpPr>
        <p:spPr>
          <a:xfrm>
            <a:off x="4505325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News</a:t>
            </a:r>
            <a:endParaRPr lang="en-US" sz="2200"/>
          </a:p>
        </p:txBody>
      </p:sp>
      <p:sp>
        <p:nvSpPr>
          <p:cNvPr id="25" name="News detail"/>
          <p:cNvSpPr txBox="1"/>
          <p:nvPr/>
        </p:nvSpPr>
        <p:spPr>
          <a:xfrm>
            <a:off x="4505325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One-day lag after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publication date</a:t>
            </a:r>
            <a:endParaRPr lang="en-US" sz="1900"/>
          </a:p>
        </p:txBody>
      </p:sp>
      <p:sp>
        <p:nvSpPr>
          <p:cNvPr id="26" name="Leakage tests heading"/>
          <p:cNvSpPr txBox="1"/>
          <p:nvPr/>
        </p:nvSpPr>
        <p:spPr>
          <a:xfrm>
            <a:off x="8248650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Leakage tests</a:t>
            </a:r>
            <a:endParaRPr lang="en-US" sz="2200"/>
          </a:p>
        </p:txBody>
      </p:sp>
      <p:sp>
        <p:nvSpPr>
          <p:cNvPr id="27" name="Leakage tests detail"/>
          <p:cNvSpPr txBox="1"/>
          <p:nvPr/>
        </p:nvSpPr>
        <p:spPr>
          <a:xfrm>
            <a:off x="8248650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Static rules, truncation,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future-noise checks</a:t>
            </a:r>
            <a:endParaRPr lang="en-US" sz="1900"/>
          </a:p>
        </p:txBody>
      </p:sp>
      <p:sp>
        <p:nvSpPr>
          <p:cNvPr id="28" name="Causality rule"/>
          <p:cNvSpPr txBox="1"/>
          <p:nvPr/>
        </p:nvSpPr>
        <p:spPr>
          <a:xfrm>
            <a:off x="762000" y="5724525"/>
            <a:ext cx="1071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A signal formed at time t must not change when observations after t are altered.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Evaluation and survival gates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07</a:t>
            </a:r>
            <a:endParaRPr lang="en-US" sz="1100"/>
          </a:p>
        </p:txBody>
      </p:sp>
      <p:sp>
        <p:nvSpPr>
          <p:cNvPr id="5" name="Evidence label"/>
          <p:cNvSpPr txBox="1"/>
          <p:nvPr/>
        </p:nvSpPr>
        <p:spPr>
          <a:xfrm>
            <a:off x="762000" y="1590675"/>
            <a:ext cx="476250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COMMON EVIDENCE</a:t>
            </a:r>
            <a:endParaRPr lang="en-US" sz="1600"/>
          </a:p>
        </p:txBody>
      </p:sp>
      <p:sp>
        <p:nvSpPr>
          <p:cNvPr id="6" name="Evidence dot 0"/>
          <p:cNvSpPr/>
          <p:nvPr/>
        </p:nvSpPr>
        <p:spPr>
          <a:xfrm>
            <a:off x="771525" y="216217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Evidence 0"/>
          <p:cNvSpPr txBox="1"/>
          <p:nvPr/>
        </p:nvSpPr>
        <p:spPr>
          <a:xfrm>
            <a:off x="1009650" y="209550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 / 5 / 10-day cross-sectional RankIC</a:t>
            </a:r>
            <a:endParaRPr lang="en-US" sz="1900"/>
          </a:p>
        </p:txBody>
      </p:sp>
      <p:sp>
        <p:nvSpPr>
          <p:cNvPr id="8" name="Evidence dot 1"/>
          <p:cNvSpPr/>
          <p:nvPr/>
        </p:nvSpPr>
        <p:spPr>
          <a:xfrm>
            <a:off x="771525" y="2762250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Evidence 1"/>
          <p:cNvSpPr txBox="1"/>
          <p:nvPr/>
        </p:nvSpPr>
        <p:spPr>
          <a:xfrm>
            <a:off x="1009650" y="2695575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Newey–West t-statistic for 5-day IC</a:t>
            </a:r>
            <a:endParaRPr lang="en-US" sz="1900"/>
          </a:p>
        </p:txBody>
      </p:sp>
      <p:sp>
        <p:nvSpPr>
          <p:cNvPr id="10" name="Evidence dot 2"/>
          <p:cNvSpPr/>
          <p:nvPr/>
        </p:nvSpPr>
        <p:spPr>
          <a:xfrm>
            <a:off x="771525" y="336232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vidence 2"/>
          <p:cNvSpPr txBox="1"/>
          <p:nvPr/>
        </p:nvSpPr>
        <p:spPr>
          <a:xfrm>
            <a:off x="1009650" y="329565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Sign consistency across 2013–2015</a:t>
            </a:r>
            <a:endParaRPr lang="en-US" sz="1900"/>
          </a:p>
        </p:txBody>
      </p:sp>
      <p:sp>
        <p:nvSpPr>
          <p:cNvPr id="12" name="Evidence dot 3"/>
          <p:cNvSpPr/>
          <p:nvPr/>
        </p:nvSpPr>
        <p:spPr>
          <a:xfrm>
            <a:off x="771525" y="3962400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Evidence 3"/>
          <p:cNvSpPr txBox="1"/>
          <p:nvPr/>
        </p:nvSpPr>
        <p:spPr>
          <a:xfrm>
            <a:off x="1009650" y="3895725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Top / bottom 20% long-short portfolio</a:t>
            </a:r>
            <a:endParaRPr lang="en-US" sz="1900"/>
          </a:p>
        </p:txBody>
      </p:sp>
      <p:sp>
        <p:nvSpPr>
          <p:cNvPr id="14" name="Evidence dot 4"/>
          <p:cNvSpPr/>
          <p:nvPr/>
        </p:nvSpPr>
        <p:spPr>
          <a:xfrm>
            <a:off x="771525" y="456247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vidence 4"/>
          <p:cNvSpPr txBox="1"/>
          <p:nvPr/>
        </p:nvSpPr>
        <p:spPr>
          <a:xfrm>
            <a:off x="1009650" y="449580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10 and 25 bp costs, turnover, drawdown</a:t>
            </a:r>
            <a:endParaRPr lang="en-US" sz="1900"/>
          </a:p>
        </p:txBody>
      </p:sp>
      <p:sp>
        <p:nvSpPr>
          <p:cNvPr id="16" name="Table divider"/>
          <p:cNvSpPr/>
          <p:nvPr/>
        </p:nvSpPr>
        <p:spPr>
          <a:xfrm>
            <a:off x="6191250" y="1609725"/>
            <a:ext cx="19050" cy="384810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ates label"/>
          <p:cNvSpPr txBox="1"/>
          <p:nvPr/>
        </p:nvSpPr>
        <p:spPr>
          <a:xfrm>
            <a:off x="6619875" y="1590675"/>
            <a:ext cx="46672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ELITE RESEARCH GATES</a:t>
            </a:r>
            <a:endParaRPr lang="en-US" sz="1600"/>
          </a:p>
        </p:txBody>
      </p:sp>
      <p:sp>
        <p:nvSpPr>
          <p:cNvPr id="18" name="Gate 0 label"/>
          <p:cNvSpPr txBox="1"/>
          <p:nvPr/>
        </p:nvSpPr>
        <p:spPr>
          <a:xfrm>
            <a:off x="6619875" y="211455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Mean RankIC</a:t>
            </a:r>
            <a:endParaRPr lang="en-US" sz="1900"/>
          </a:p>
        </p:txBody>
      </p:sp>
      <p:sp>
        <p:nvSpPr>
          <p:cNvPr id="19" name="Gate 0 value"/>
          <p:cNvSpPr txBox="1"/>
          <p:nvPr/>
        </p:nvSpPr>
        <p:spPr>
          <a:xfrm>
            <a:off x="9906000" y="209550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0.005</a:t>
            </a:r>
            <a:endParaRPr lang="en-US" sz="2200"/>
          </a:p>
        </p:txBody>
      </p:sp>
      <p:sp>
        <p:nvSpPr>
          <p:cNvPr id="20" name="Gate line 0"/>
          <p:cNvSpPr/>
          <p:nvPr/>
        </p:nvSpPr>
        <p:spPr>
          <a:xfrm>
            <a:off x="6619875" y="256222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ate 1 label"/>
          <p:cNvSpPr txBox="1"/>
          <p:nvPr/>
        </p:nvSpPr>
        <p:spPr>
          <a:xfrm>
            <a:off x="6619875" y="2695575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NW t-statistic</a:t>
            </a:r>
            <a:endParaRPr lang="en-US" sz="1900"/>
          </a:p>
        </p:txBody>
      </p:sp>
      <p:sp>
        <p:nvSpPr>
          <p:cNvPr id="22" name="Gate 1 value"/>
          <p:cNvSpPr txBox="1"/>
          <p:nvPr/>
        </p:nvSpPr>
        <p:spPr>
          <a:xfrm>
            <a:off x="9906000" y="2676525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1.0</a:t>
            </a:r>
            <a:endParaRPr lang="en-US" sz="2200"/>
          </a:p>
        </p:txBody>
      </p:sp>
      <p:sp>
        <p:nvSpPr>
          <p:cNvPr id="23" name="Gate line 1"/>
          <p:cNvSpPr/>
          <p:nvPr/>
        </p:nvSpPr>
        <p:spPr>
          <a:xfrm>
            <a:off x="6619875" y="3143250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Gate 2 label"/>
          <p:cNvSpPr txBox="1"/>
          <p:nvPr/>
        </p:nvSpPr>
        <p:spPr>
          <a:xfrm>
            <a:off x="6619875" y="327660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Positive validation folds</a:t>
            </a:r>
            <a:endParaRPr lang="en-US" sz="1900"/>
          </a:p>
        </p:txBody>
      </p:sp>
      <p:sp>
        <p:nvSpPr>
          <p:cNvPr id="25" name="Gate 2 value"/>
          <p:cNvSpPr txBox="1"/>
          <p:nvPr/>
        </p:nvSpPr>
        <p:spPr>
          <a:xfrm>
            <a:off x="9906000" y="325755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3 / 3</a:t>
            </a:r>
            <a:endParaRPr lang="en-US" sz="2200"/>
          </a:p>
        </p:txBody>
      </p:sp>
      <p:sp>
        <p:nvSpPr>
          <p:cNvPr id="26" name="Gate line 2"/>
          <p:cNvSpPr/>
          <p:nvPr/>
        </p:nvSpPr>
        <p:spPr>
          <a:xfrm>
            <a:off x="6619875" y="372427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Gate 3 label"/>
          <p:cNvSpPr txBox="1"/>
          <p:nvPr/>
        </p:nvSpPr>
        <p:spPr>
          <a:xfrm>
            <a:off x="6619875" y="3857625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Sharpe after 25 bp cost</a:t>
            </a:r>
            <a:endParaRPr lang="en-US" sz="1900"/>
          </a:p>
        </p:txBody>
      </p:sp>
      <p:sp>
        <p:nvSpPr>
          <p:cNvPr id="28" name="Gate 3 value"/>
          <p:cNvSpPr txBox="1"/>
          <p:nvPr/>
        </p:nvSpPr>
        <p:spPr>
          <a:xfrm>
            <a:off x="9906000" y="3838575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0</a:t>
            </a:r>
            <a:endParaRPr lang="en-US" sz="2200"/>
          </a:p>
        </p:txBody>
      </p:sp>
      <p:sp>
        <p:nvSpPr>
          <p:cNvPr id="29" name="Gate line 3"/>
          <p:cNvSpPr/>
          <p:nvPr/>
        </p:nvSpPr>
        <p:spPr>
          <a:xfrm>
            <a:off x="6619875" y="4305300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Gate 4 label"/>
          <p:cNvSpPr txBox="1"/>
          <p:nvPr/>
        </p:nvSpPr>
        <p:spPr>
          <a:xfrm>
            <a:off x="6619875" y="443865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Daily turnover</a:t>
            </a:r>
            <a:endParaRPr lang="en-US" sz="1900"/>
          </a:p>
        </p:txBody>
      </p:sp>
      <p:sp>
        <p:nvSpPr>
          <p:cNvPr id="31" name="Gate 4 value"/>
          <p:cNvSpPr txBox="1"/>
          <p:nvPr/>
        </p:nvSpPr>
        <p:spPr>
          <a:xfrm>
            <a:off x="9906000" y="441960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≤ 1.5</a:t>
            </a:r>
            <a:endParaRPr lang="en-US" sz="2200"/>
          </a:p>
        </p:txBody>
      </p:sp>
      <p:sp>
        <p:nvSpPr>
          <p:cNvPr id="32" name="Gate line 4"/>
          <p:cNvSpPr/>
          <p:nvPr/>
        </p:nvSpPr>
        <p:spPr>
          <a:xfrm>
            <a:off x="6619875" y="488632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Parent note"/>
          <p:cNvSpPr txBox="1"/>
          <p:nvPr/>
        </p:nvSpPr>
        <p:spPr>
          <a:xfrm>
            <a:off x="762000" y="5867400"/>
            <a:ext cx="105727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Parent = exploratory evidence. Elite = eligible for final-library selection.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Six-arm experiment design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08</a:t>
            </a:r>
            <a:endParaRPr lang="en-US" sz="1100"/>
          </a:p>
        </p:txBody>
      </p:sp>
      <p:sp>
        <p:nvSpPr>
          <p:cNvPr id="5" name="Common protocol"/>
          <p:cNvSpPr txBox="1"/>
          <p:nvPr/>
        </p:nvSpPr>
        <p:spPr>
          <a:xfrm>
            <a:off x="742950" y="1466850"/>
            <a:ext cx="10763250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087E86"/>
                </a:solidFill>
                <a:latin typeface="Arial"/>
              </a:rPr>
              <a:t>Same 2010–2015 panel, folds, gates, seed and 60-candidate cap</a:t>
            </a:r>
            <a:endParaRPr lang="en-US" sz="2100"/>
          </a:p>
        </p:txBody>
      </p:sp>
      <p:sp>
        <p:nvSpPr>
          <p:cNvPr id="6" name="Column SEARCH POLICY"/>
          <p:cNvSpPr txBox="1"/>
          <p:nvPr/>
        </p:nvSpPr>
        <p:spPr>
          <a:xfrm>
            <a:off x="762000" y="2105025"/>
            <a:ext cx="3905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SEARCH POLICY</a:t>
            </a:r>
            <a:endParaRPr lang="en-US" sz="1600"/>
          </a:p>
        </p:txBody>
      </p:sp>
      <p:sp>
        <p:nvSpPr>
          <p:cNvPr id="7" name="Column MACRO"/>
          <p:cNvSpPr txBox="1"/>
          <p:nvPr/>
        </p:nvSpPr>
        <p:spPr>
          <a:xfrm>
            <a:off x="5000625" y="2105025"/>
            <a:ext cx="1762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MACRO</a:t>
            </a:r>
            <a:endParaRPr lang="en-US" sz="1600"/>
          </a:p>
        </p:txBody>
      </p:sp>
      <p:sp>
        <p:nvSpPr>
          <p:cNvPr id="8" name="Column MICRO"/>
          <p:cNvSpPr txBox="1"/>
          <p:nvPr/>
        </p:nvSpPr>
        <p:spPr>
          <a:xfrm>
            <a:off x="7258050" y="2105025"/>
            <a:ext cx="1762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MICRO</a:t>
            </a:r>
            <a:endParaRPr lang="en-US" sz="1600"/>
          </a:p>
        </p:txBody>
      </p:sp>
      <p:sp>
        <p:nvSpPr>
          <p:cNvPr id="9" name="Column EVALUATED"/>
          <p:cNvSpPr txBox="1"/>
          <p:nvPr/>
        </p:nvSpPr>
        <p:spPr>
          <a:xfrm>
            <a:off x="9810750" y="2105025"/>
            <a:ext cx="1619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EVALUATED</a:t>
            </a:r>
            <a:endParaRPr lang="en-US" sz="1600"/>
          </a:p>
        </p:txBody>
      </p:sp>
      <p:sp>
        <p:nvSpPr>
          <p:cNvPr id="10" name="Header rule"/>
          <p:cNvSpPr/>
          <p:nvPr/>
        </p:nvSpPr>
        <p:spPr>
          <a:xfrm>
            <a:off x="752475" y="2466975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rm 0 field 0"/>
          <p:cNvSpPr txBox="1"/>
          <p:nvPr/>
        </p:nvSpPr>
        <p:spPr>
          <a:xfrm>
            <a:off x="762000" y="26384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Fixed deterministic</a:t>
            </a:r>
            <a:endParaRPr lang="en-US" sz="2000"/>
          </a:p>
        </p:txBody>
      </p:sp>
      <p:sp>
        <p:nvSpPr>
          <p:cNvPr id="12" name="Arm 0 field 1"/>
          <p:cNvSpPr txBox="1"/>
          <p:nvPr/>
        </p:nvSpPr>
        <p:spPr>
          <a:xfrm>
            <a:off x="5000625" y="26384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3" name="Arm 0 field 2"/>
          <p:cNvSpPr txBox="1"/>
          <p:nvPr/>
        </p:nvSpPr>
        <p:spPr>
          <a:xfrm>
            <a:off x="7258050" y="26384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4" name="Arm 0 field 3"/>
          <p:cNvSpPr txBox="1"/>
          <p:nvPr/>
        </p:nvSpPr>
        <p:spPr>
          <a:xfrm>
            <a:off x="9810750" y="26384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33</a:t>
            </a:r>
            <a:endParaRPr lang="en-US" sz="1900"/>
          </a:p>
        </p:txBody>
      </p:sp>
      <p:sp>
        <p:nvSpPr>
          <p:cNvPr id="15" name="Row rule 0"/>
          <p:cNvSpPr/>
          <p:nvPr/>
        </p:nvSpPr>
        <p:spPr>
          <a:xfrm>
            <a:off x="752475" y="30861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rm 1 field 0"/>
          <p:cNvSpPr txBox="1"/>
          <p:nvPr/>
        </p:nvSpPr>
        <p:spPr>
          <a:xfrm>
            <a:off x="762000" y="31527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Adaptive deterministic</a:t>
            </a:r>
            <a:endParaRPr lang="en-US" sz="2000"/>
          </a:p>
        </p:txBody>
      </p:sp>
      <p:sp>
        <p:nvSpPr>
          <p:cNvPr id="17" name="Arm 1 field 1"/>
          <p:cNvSpPr txBox="1"/>
          <p:nvPr/>
        </p:nvSpPr>
        <p:spPr>
          <a:xfrm>
            <a:off x="5000625" y="31527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8" name="Arm 1 field 2"/>
          <p:cNvSpPr txBox="1"/>
          <p:nvPr/>
        </p:nvSpPr>
        <p:spPr>
          <a:xfrm>
            <a:off x="7258050" y="31527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9" name="Arm 1 field 3"/>
          <p:cNvSpPr txBox="1"/>
          <p:nvPr/>
        </p:nvSpPr>
        <p:spPr>
          <a:xfrm>
            <a:off x="9810750" y="31527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0" name="Row rule 1"/>
          <p:cNvSpPr/>
          <p:nvPr/>
        </p:nvSpPr>
        <p:spPr>
          <a:xfrm>
            <a:off x="752475" y="36004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Arm 2 field 0"/>
          <p:cNvSpPr txBox="1"/>
          <p:nvPr/>
        </p:nvSpPr>
        <p:spPr>
          <a:xfrm>
            <a:off x="762000" y="36671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Luna / Luna</a:t>
            </a:r>
            <a:endParaRPr lang="en-US" sz="2000"/>
          </a:p>
        </p:txBody>
      </p:sp>
      <p:sp>
        <p:nvSpPr>
          <p:cNvPr id="22" name="Arm 2 field 1"/>
          <p:cNvSpPr txBox="1"/>
          <p:nvPr/>
        </p:nvSpPr>
        <p:spPr>
          <a:xfrm>
            <a:off x="5000625" y="36671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3" name="Arm 2 field 2"/>
          <p:cNvSpPr txBox="1"/>
          <p:nvPr/>
        </p:nvSpPr>
        <p:spPr>
          <a:xfrm>
            <a:off x="7258050" y="36671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4" name="Arm 2 field 3"/>
          <p:cNvSpPr txBox="1"/>
          <p:nvPr/>
        </p:nvSpPr>
        <p:spPr>
          <a:xfrm>
            <a:off x="9810750" y="36671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5" name="Row rule 2"/>
          <p:cNvSpPr/>
          <p:nvPr/>
        </p:nvSpPr>
        <p:spPr>
          <a:xfrm>
            <a:off x="752475" y="41148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rm 3 field 0"/>
          <p:cNvSpPr txBox="1"/>
          <p:nvPr/>
        </p:nvSpPr>
        <p:spPr>
          <a:xfrm>
            <a:off x="762000" y="41814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Sol / Luna</a:t>
            </a:r>
            <a:endParaRPr lang="en-US" sz="2000"/>
          </a:p>
        </p:txBody>
      </p:sp>
      <p:sp>
        <p:nvSpPr>
          <p:cNvPr id="27" name="Arm 3 field 1"/>
          <p:cNvSpPr txBox="1"/>
          <p:nvPr/>
        </p:nvSpPr>
        <p:spPr>
          <a:xfrm>
            <a:off x="5000625" y="41814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28" name="Arm 3 field 2"/>
          <p:cNvSpPr txBox="1"/>
          <p:nvPr/>
        </p:nvSpPr>
        <p:spPr>
          <a:xfrm>
            <a:off x="7258050" y="41814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9" name="Arm 3 field 3"/>
          <p:cNvSpPr txBox="1"/>
          <p:nvPr/>
        </p:nvSpPr>
        <p:spPr>
          <a:xfrm>
            <a:off x="9810750" y="41814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0" name="Row rule 3"/>
          <p:cNvSpPr/>
          <p:nvPr/>
        </p:nvSpPr>
        <p:spPr>
          <a:xfrm>
            <a:off x="752475" y="46291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Arm 4 field 0"/>
          <p:cNvSpPr txBox="1"/>
          <p:nvPr/>
        </p:nvSpPr>
        <p:spPr>
          <a:xfrm>
            <a:off x="762000" y="46958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Luna / Sol</a:t>
            </a:r>
            <a:endParaRPr lang="en-US" sz="2000"/>
          </a:p>
        </p:txBody>
      </p:sp>
      <p:sp>
        <p:nvSpPr>
          <p:cNvPr id="32" name="Arm 4 field 1"/>
          <p:cNvSpPr txBox="1"/>
          <p:nvPr/>
        </p:nvSpPr>
        <p:spPr>
          <a:xfrm>
            <a:off x="5000625" y="46958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33" name="Arm 4 field 2"/>
          <p:cNvSpPr txBox="1"/>
          <p:nvPr/>
        </p:nvSpPr>
        <p:spPr>
          <a:xfrm>
            <a:off x="7258050" y="46958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4" name="Arm 4 field 3"/>
          <p:cNvSpPr txBox="1"/>
          <p:nvPr/>
        </p:nvSpPr>
        <p:spPr>
          <a:xfrm>
            <a:off x="9810750" y="46958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5" name="Row rule 4"/>
          <p:cNvSpPr/>
          <p:nvPr/>
        </p:nvSpPr>
        <p:spPr>
          <a:xfrm>
            <a:off x="752475" y="51435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Arm 5 field 0"/>
          <p:cNvSpPr txBox="1"/>
          <p:nvPr/>
        </p:nvSpPr>
        <p:spPr>
          <a:xfrm>
            <a:off x="762000" y="52101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Sol / Sol</a:t>
            </a:r>
            <a:endParaRPr lang="en-US" sz="2000"/>
          </a:p>
        </p:txBody>
      </p:sp>
      <p:sp>
        <p:nvSpPr>
          <p:cNvPr id="37" name="Arm 5 field 1"/>
          <p:cNvSpPr txBox="1"/>
          <p:nvPr/>
        </p:nvSpPr>
        <p:spPr>
          <a:xfrm>
            <a:off x="5000625" y="52101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8" name="Arm 5 field 2"/>
          <p:cNvSpPr txBox="1"/>
          <p:nvPr/>
        </p:nvSpPr>
        <p:spPr>
          <a:xfrm>
            <a:off x="7258050" y="52101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9" name="Arm 5 field 3"/>
          <p:cNvSpPr txBox="1"/>
          <p:nvPr/>
        </p:nvSpPr>
        <p:spPr>
          <a:xfrm>
            <a:off x="9810750" y="52101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40" name="Row rule 5"/>
          <p:cNvSpPr/>
          <p:nvPr/>
        </p:nvSpPr>
        <p:spPr>
          <a:xfrm>
            <a:off x="752475" y="56578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Design footnote"/>
          <p:cNvSpPr txBox="1"/>
          <p:nvPr/>
        </p:nvSpPr>
        <p:spPr>
          <a:xfrm>
            <a:off x="752475" y="5934075"/>
            <a:ext cx="1062037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Adaptive arms began with 16 coverage candidates. Fixed search exhausted new proposals at 33 tests.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Adaptive search broadened coverage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09</a:t>
            </a:r>
            <a:endParaRPr lang="en-US" sz="1100"/>
          </a:p>
        </p:txBody>
      </p:sp>
      <p:sp>
        <p:nvSpPr>
          <p:cNvPr id="5" name="Chart label one"/>
          <p:cNvSpPr txBox="1"/>
          <p:nvPr/>
        </p:nvSpPr>
        <p:spPr>
          <a:xfrm>
            <a:off x="762000" y="1600200"/>
            <a:ext cx="471487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UNIQUE PARENT CLUSTERS</a:t>
            </a:r>
            <a:endParaRPr lang="en-US" sz="1700"/>
          </a:p>
        </p:txBody>
      </p:sp>
      <p:sp>
        <p:nvSpPr>
          <p:cNvPr id="6" name="Fixed"/>
          <p:cNvSpPr txBox="1"/>
          <p:nvPr/>
        </p:nvSpPr>
        <p:spPr>
          <a:xfrm>
            <a:off x="762000" y="2181225"/>
            <a:ext cx="252412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Fixed generation</a:t>
            </a:r>
            <a:endParaRPr lang="en-US" sz="2000"/>
          </a:p>
        </p:txBody>
      </p:sp>
      <p:sp>
        <p:nvSpPr>
          <p:cNvPr id="7" name="Fixed cluster bar"/>
          <p:cNvSpPr/>
          <p:nvPr/>
        </p:nvSpPr>
        <p:spPr>
          <a:xfrm>
            <a:off x="762000" y="2609850"/>
            <a:ext cx="2257425" cy="371475"/>
          </a:xfrm>
          <a:prstGeom prst="rect">
            <a:avLst/>
          </a:prstGeom>
          <a:solidFill>
            <a:srgbClr val="A8B7BD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ixed clusters"/>
          <p:cNvSpPr txBox="1"/>
          <p:nvPr/>
        </p:nvSpPr>
        <p:spPr>
          <a:xfrm>
            <a:off x="3143250" y="2543175"/>
            <a:ext cx="85725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100" b="1">
                <a:solidFill>
                  <a:srgbClr val="142B3D"/>
                </a:solidFill>
                <a:latin typeface="Arial"/>
              </a:rPr>
              <a:t>6</a:t>
            </a:r>
            <a:endParaRPr lang="en-US" sz="3100"/>
          </a:p>
        </p:txBody>
      </p:sp>
      <p:sp>
        <p:nvSpPr>
          <p:cNvPr id="9" name="Adaptive"/>
          <p:cNvSpPr txBox="1"/>
          <p:nvPr/>
        </p:nvSpPr>
        <p:spPr>
          <a:xfrm>
            <a:off x="762000" y="3429000"/>
            <a:ext cx="34290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Adaptive search</a:t>
            </a:r>
            <a:endParaRPr lang="en-US" sz="2000"/>
          </a:p>
        </p:txBody>
      </p:sp>
      <p:sp>
        <p:nvSpPr>
          <p:cNvPr id="10" name="Adaptive cluster bar"/>
          <p:cNvSpPr/>
          <p:nvPr/>
        </p:nvSpPr>
        <p:spPr>
          <a:xfrm>
            <a:off x="762000" y="3867150"/>
            <a:ext cx="6400800" cy="371475"/>
          </a:xfrm>
          <a:prstGeom prst="rect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daptive clusters"/>
          <p:cNvSpPr txBox="1"/>
          <p:nvPr/>
        </p:nvSpPr>
        <p:spPr>
          <a:xfrm>
            <a:off x="7277100" y="3810000"/>
            <a:ext cx="95250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100" b="1">
                <a:solidFill>
                  <a:srgbClr val="087E86"/>
                </a:solidFill>
                <a:latin typeface="Arial"/>
              </a:rPr>
              <a:t>17</a:t>
            </a:r>
            <a:endParaRPr lang="en-US" sz="3100"/>
          </a:p>
        </p:txBody>
      </p:sp>
      <p:sp>
        <p:nvSpPr>
          <p:cNvPr id="12" name="Ablation divider"/>
          <p:cNvSpPr/>
          <p:nvPr/>
        </p:nvSpPr>
        <p:spPr>
          <a:xfrm>
            <a:off x="8334375" y="1666875"/>
            <a:ext cx="19050" cy="31908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Yield label"/>
          <p:cNvSpPr txBox="1"/>
          <p:nvPr/>
        </p:nvSpPr>
        <p:spPr>
          <a:xfrm>
            <a:off x="8743950" y="1676400"/>
            <a:ext cx="26670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VALID EVIDENCE</a:t>
            </a:r>
            <a:endParaRPr lang="en-US" sz="1700"/>
          </a:p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PER 10 PROPOSALS</a:t>
            </a:r>
            <a:endParaRPr lang="en-US" sz="1700"/>
          </a:p>
        </p:txBody>
      </p:sp>
      <p:sp>
        <p:nvSpPr>
          <p:cNvPr id="14" name="Fixed yield label"/>
          <p:cNvSpPr txBox="1"/>
          <p:nvPr/>
        </p:nvSpPr>
        <p:spPr>
          <a:xfrm>
            <a:off x="8810625" y="2514600"/>
            <a:ext cx="25717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Fixed</a:t>
            </a:r>
            <a:endParaRPr lang="en-US" sz="1600"/>
          </a:p>
        </p:txBody>
      </p:sp>
      <p:sp>
        <p:nvSpPr>
          <p:cNvPr id="15" name="Fixed yield"/>
          <p:cNvSpPr txBox="1"/>
          <p:nvPr/>
        </p:nvSpPr>
        <p:spPr>
          <a:xfrm>
            <a:off x="8810625" y="2828925"/>
            <a:ext cx="257175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300" b="1">
                <a:solidFill>
                  <a:srgbClr val="142B3D"/>
                </a:solidFill>
                <a:latin typeface="Arial"/>
              </a:rPr>
              <a:t>8.38</a:t>
            </a:r>
            <a:endParaRPr lang="en-US" sz="4300"/>
          </a:p>
        </p:txBody>
      </p:sp>
      <p:sp>
        <p:nvSpPr>
          <p:cNvPr id="16" name="Adaptive yield label"/>
          <p:cNvSpPr txBox="1"/>
          <p:nvPr/>
        </p:nvSpPr>
        <p:spPr>
          <a:xfrm>
            <a:off x="8810625" y="3619500"/>
            <a:ext cx="25717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Adaptive</a:t>
            </a:r>
            <a:endParaRPr lang="en-US" sz="1600"/>
          </a:p>
        </p:txBody>
      </p:sp>
      <p:sp>
        <p:nvSpPr>
          <p:cNvPr id="17" name="Adaptive yield"/>
          <p:cNvSpPr txBox="1"/>
          <p:nvPr/>
        </p:nvSpPr>
        <p:spPr>
          <a:xfrm>
            <a:off x="8810625" y="3933825"/>
            <a:ext cx="257175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300" b="1">
                <a:solidFill>
                  <a:srgbClr val="087E86"/>
                </a:solidFill>
                <a:latin typeface="Arial"/>
              </a:rPr>
              <a:t>9.33</a:t>
            </a:r>
            <a:endParaRPr lang="en-US" sz="4300"/>
          </a:p>
        </p:txBody>
      </p:sp>
      <p:sp>
        <p:nvSpPr>
          <p:cNvPr id="18" name="Ablation caveat"/>
          <p:cNvSpPr txBox="1"/>
          <p:nvPr/>
        </p:nvSpPr>
        <p:spPr>
          <a:xfrm>
            <a:off x="762000" y="5429250"/>
            <a:ext cx="1057275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536672"/>
                </a:solidFill>
                <a:latin typeface="Arial"/>
              </a:rPr>
              <a:t>The cap was 60 in both arms, but fixed search ended at 33 candidates. This single run does not isolate architecture from proposal coverage.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Model role comparison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10</a:t>
            </a:r>
            <a:endParaRPr lang="en-US" sz="1100"/>
          </a:p>
        </p:txBody>
      </p:sp>
      <p:sp>
        <p:nvSpPr>
          <p:cNvPr id="5" name="Role subtitle"/>
          <p:cNvSpPr txBox="1"/>
          <p:nvPr/>
        </p:nvSpPr>
        <p:spPr>
          <a:xfrm>
            <a:off x="762000" y="1476375"/>
            <a:ext cx="1047750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536672"/>
                </a:solidFill>
                <a:latin typeface="Arial"/>
              </a:rPr>
              <a:t>Unique Parent clusters across four 60-candidate LLM arms</a:t>
            </a:r>
            <a:endParaRPr lang="en-US" sz="2100"/>
          </a:p>
        </p:txBody>
      </p:sp>
      <p:sp>
        <p:nvSpPr>
          <p:cNvPr id="6" name="Role heading"/>
          <p:cNvSpPr txBox="1"/>
          <p:nvPr/>
        </p:nvSpPr>
        <p:spPr>
          <a:xfrm>
            <a:off x="742950" y="2076450"/>
            <a:ext cx="266700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MACRO / MICRO</a:t>
            </a:r>
            <a:endParaRPr lang="en-US" sz="1600"/>
          </a:p>
        </p:txBody>
      </p:sp>
      <p:sp>
        <p:nvSpPr>
          <p:cNvPr id="7" name="Cost heading"/>
          <p:cNvSpPr txBox="1"/>
          <p:nvPr/>
        </p:nvSpPr>
        <p:spPr>
          <a:xfrm>
            <a:off x="9810750" y="2076450"/>
            <a:ext cx="161925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>
                <a:solidFill>
                  <a:srgbClr val="536672"/>
                </a:solidFill>
                <a:latin typeface="Arial"/>
              </a:rPr>
              <a:t>EST. API COST</a:t>
            </a:r>
            <a:endParaRPr lang="en-US" sz="1600"/>
          </a:p>
        </p:txBody>
      </p:sp>
      <p:sp>
        <p:nvSpPr>
          <p:cNvPr id="8" name="Role 0"/>
          <p:cNvSpPr txBox="1"/>
          <p:nvPr/>
        </p:nvSpPr>
        <p:spPr>
          <a:xfrm>
            <a:off x="762000" y="2647950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Luna / Luna</a:t>
            </a:r>
            <a:endParaRPr lang="en-US" sz="2100"/>
          </a:p>
        </p:txBody>
      </p:sp>
      <p:sp>
        <p:nvSpPr>
          <p:cNvPr id="9" name="Role bar 0"/>
          <p:cNvSpPr/>
          <p:nvPr/>
        </p:nvSpPr>
        <p:spPr>
          <a:xfrm>
            <a:off x="3162300" y="2667000"/>
            <a:ext cx="3867150" cy="352425"/>
          </a:xfrm>
          <a:prstGeom prst="rect">
            <a:avLst/>
          </a:prstGeom>
          <a:solidFill>
            <a:srgbClr val="9DAEB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ole clusters 0"/>
          <p:cNvSpPr txBox="1"/>
          <p:nvPr/>
        </p:nvSpPr>
        <p:spPr>
          <a:xfrm>
            <a:off x="7153275" y="2628900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14</a:t>
            </a:r>
            <a:endParaRPr lang="en-US" sz="2400"/>
          </a:p>
        </p:txBody>
      </p:sp>
      <p:sp>
        <p:nvSpPr>
          <p:cNvPr id="11" name="Role cost 0"/>
          <p:cNvSpPr txBox="1"/>
          <p:nvPr/>
        </p:nvSpPr>
        <p:spPr>
          <a:xfrm>
            <a:off x="9810750" y="2647950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$0.066</a:t>
            </a:r>
            <a:endParaRPr lang="en-US" sz="2100"/>
          </a:p>
        </p:txBody>
      </p:sp>
      <p:sp>
        <p:nvSpPr>
          <p:cNvPr id="12" name="Role 1"/>
          <p:cNvSpPr txBox="1"/>
          <p:nvPr/>
        </p:nvSpPr>
        <p:spPr>
          <a:xfrm>
            <a:off x="762000" y="3400425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Sol / Luna</a:t>
            </a:r>
            <a:endParaRPr lang="en-US" sz="2100"/>
          </a:p>
        </p:txBody>
      </p:sp>
      <p:sp>
        <p:nvSpPr>
          <p:cNvPr id="13" name="Role bar 1"/>
          <p:cNvSpPr/>
          <p:nvPr/>
        </p:nvSpPr>
        <p:spPr>
          <a:xfrm>
            <a:off x="3162300" y="3419475"/>
            <a:ext cx="4143375" cy="352425"/>
          </a:xfrm>
          <a:prstGeom prst="rect">
            <a:avLst/>
          </a:prstGeom>
          <a:solidFill>
            <a:srgbClr val="9DAEB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ole clusters 1"/>
          <p:cNvSpPr txBox="1"/>
          <p:nvPr/>
        </p:nvSpPr>
        <p:spPr>
          <a:xfrm>
            <a:off x="7429500" y="3381375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15</a:t>
            </a:r>
            <a:endParaRPr lang="en-US" sz="2400"/>
          </a:p>
        </p:txBody>
      </p:sp>
      <p:sp>
        <p:nvSpPr>
          <p:cNvPr id="15" name="Role cost 1"/>
          <p:cNvSpPr txBox="1"/>
          <p:nvPr/>
        </p:nvSpPr>
        <p:spPr>
          <a:xfrm>
            <a:off x="9810750" y="3400425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$0.686</a:t>
            </a:r>
            <a:endParaRPr lang="en-US" sz="2100"/>
          </a:p>
        </p:txBody>
      </p:sp>
      <p:sp>
        <p:nvSpPr>
          <p:cNvPr id="16" name="Role 2"/>
          <p:cNvSpPr txBox="1"/>
          <p:nvPr/>
        </p:nvSpPr>
        <p:spPr>
          <a:xfrm>
            <a:off x="762000" y="4152900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Luna / Sol</a:t>
            </a:r>
            <a:endParaRPr lang="en-US" sz="2100"/>
          </a:p>
        </p:txBody>
      </p:sp>
      <p:sp>
        <p:nvSpPr>
          <p:cNvPr id="17" name="Role bar 2"/>
          <p:cNvSpPr/>
          <p:nvPr/>
        </p:nvSpPr>
        <p:spPr>
          <a:xfrm>
            <a:off x="3162300" y="4171950"/>
            <a:ext cx="5524500" cy="352425"/>
          </a:xfrm>
          <a:prstGeom prst="rect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ole clusters 2"/>
          <p:cNvSpPr txBox="1"/>
          <p:nvPr/>
        </p:nvSpPr>
        <p:spPr>
          <a:xfrm>
            <a:off x="8810625" y="4133850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087E86"/>
                </a:solidFill>
                <a:latin typeface="Arial"/>
              </a:rPr>
              <a:t>20</a:t>
            </a:r>
            <a:endParaRPr lang="en-US" sz="2400"/>
          </a:p>
        </p:txBody>
      </p:sp>
      <p:sp>
        <p:nvSpPr>
          <p:cNvPr id="19" name="Role cost 2"/>
          <p:cNvSpPr txBox="1"/>
          <p:nvPr/>
        </p:nvSpPr>
        <p:spPr>
          <a:xfrm>
            <a:off x="9810750" y="4152900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$0.995</a:t>
            </a:r>
            <a:endParaRPr lang="en-US" sz="2100"/>
          </a:p>
        </p:txBody>
      </p:sp>
      <p:sp>
        <p:nvSpPr>
          <p:cNvPr id="20" name="Role 3"/>
          <p:cNvSpPr txBox="1"/>
          <p:nvPr/>
        </p:nvSpPr>
        <p:spPr>
          <a:xfrm>
            <a:off x="762000" y="4905375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Sol / Sol</a:t>
            </a:r>
            <a:endParaRPr lang="en-US" sz="2100"/>
          </a:p>
        </p:txBody>
      </p:sp>
      <p:sp>
        <p:nvSpPr>
          <p:cNvPr id="21" name="Role bar 3"/>
          <p:cNvSpPr/>
          <p:nvPr/>
        </p:nvSpPr>
        <p:spPr>
          <a:xfrm>
            <a:off x="3162300" y="4924425"/>
            <a:ext cx="5800725" cy="352425"/>
          </a:xfrm>
          <a:prstGeom prst="rect">
            <a:avLst/>
          </a:prstGeom>
          <a:solidFill>
            <a:srgbClr val="5E9CA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ole clusters 3"/>
          <p:cNvSpPr txBox="1"/>
          <p:nvPr/>
        </p:nvSpPr>
        <p:spPr>
          <a:xfrm>
            <a:off x="9086850" y="4886325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21</a:t>
            </a:r>
            <a:endParaRPr lang="en-US" sz="2400"/>
          </a:p>
        </p:txBody>
      </p:sp>
      <p:sp>
        <p:nvSpPr>
          <p:cNvPr id="23" name="Role cost 3"/>
          <p:cNvSpPr txBox="1"/>
          <p:nvPr/>
        </p:nvSpPr>
        <p:spPr>
          <a:xfrm>
            <a:off x="9810750" y="4905375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$1.663</a:t>
            </a:r>
            <a:endParaRPr lang="en-US" sz="2100"/>
          </a:p>
        </p:txBody>
      </p:sp>
      <p:sp>
        <p:nvSpPr>
          <p:cNvPr id="24" name="Role observation"/>
          <p:cNvSpPr txBox="1"/>
          <p:nvPr/>
        </p:nvSpPr>
        <p:spPr>
          <a:xfrm>
            <a:off x="762000" y="5838825"/>
            <a:ext cx="104775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Only Luna Macro / Sol Micro found an Elite (candidate 41). Single runs do not establish causality.</a:t>
            </a:r>
            <a:endParaRPr lang="en-US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Two factor examples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11</a:t>
            </a:r>
            <a:endParaRPr lang="en-US" sz="1100"/>
          </a:p>
        </p:txBody>
      </p:sp>
      <p:sp>
        <p:nvSpPr>
          <p:cNvPr id="5" name="Example left type"/>
          <p:cNvSpPr txBox="1"/>
          <p:nvPr/>
        </p:nvSpPr>
        <p:spPr>
          <a:xfrm>
            <a:off x="723900" y="1600200"/>
            <a:ext cx="49530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RESEARCH ELITE</a:t>
            </a:r>
            <a:endParaRPr lang="en-US" sz="1700"/>
          </a:p>
        </p:txBody>
      </p:sp>
      <p:sp>
        <p:nvSpPr>
          <p:cNvPr id="6" name="Example left name"/>
          <p:cNvSpPr txBox="1"/>
          <p:nvPr/>
        </p:nvSpPr>
        <p:spPr>
          <a:xfrm>
            <a:off x="723900" y="2038350"/>
            <a:ext cx="4905375" cy="600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>
                <a:solidFill>
                  <a:srgbClr val="142B3D"/>
                </a:solidFill>
                <a:latin typeface="Arial"/>
              </a:rPr>
              <a:t>Slow attention × profitability</a:t>
            </a:r>
            <a:endParaRPr lang="en-US" sz="2600"/>
          </a:p>
        </p:txBody>
      </p:sp>
      <p:sp>
        <p:nvSpPr>
          <p:cNvPr id="7" name="Example left formula"/>
          <p:cNvSpPr txBox="1"/>
          <p:nvPr/>
        </p:nvSpPr>
        <p:spPr>
          <a:xfrm>
            <a:off x="723900" y="2933700"/>
            <a:ext cx="493395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087E86"/>
                </a:solidFill>
                <a:latin typeface="Arial"/>
              </a:rPr>
              <a:t>rank(after_tax_roe)</a:t>
            </a:r>
            <a:endParaRPr lang="en-US" sz="2200"/>
          </a:p>
          <a:p>
            <a:pPr algn="l"/>
            <a:r>
              <a:rPr lang="en-US" sz="2200" b="1">
                <a:solidFill>
                  <a:srgbClr val="087E86"/>
                </a:solidFill>
                <a:latin typeface="Arial"/>
              </a:rPr>
              <a:t>− rank(news_volume[60])</a:t>
            </a:r>
            <a:endParaRPr lang="en-US" sz="2200"/>
          </a:p>
        </p:txBody>
      </p:sp>
      <p:sp>
        <p:nvSpPr>
          <p:cNvPr id="8" name="Example left metrics"/>
          <p:cNvSpPr txBox="1"/>
          <p:nvPr/>
        </p:nvSpPr>
        <p:spPr>
          <a:xfrm>
            <a:off x="723900" y="4105275"/>
            <a:ext cx="4953000" cy="1314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RankIC  0.0199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NW t       1.079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25 bp Sharpe  0.733</a:t>
            </a:r>
            <a:endParaRPr lang="en-US" sz="2000"/>
          </a:p>
        </p:txBody>
      </p:sp>
      <p:sp>
        <p:nvSpPr>
          <p:cNvPr id="9" name="Example left decision"/>
          <p:cNvSpPr txBox="1"/>
          <p:nvPr/>
        </p:nvSpPr>
        <p:spPr>
          <a:xfrm>
            <a:off x="723900" y="5600700"/>
            <a:ext cx="49530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Passed all research gates</a:t>
            </a:r>
            <a:endParaRPr lang="en-US" sz="1900"/>
          </a:p>
        </p:txBody>
      </p:sp>
      <p:sp>
        <p:nvSpPr>
          <p:cNvPr id="10" name="Example divider"/>
          <p:cNvSpPr/>
          <p:nvPr/>
        </p:nvSpPr>
        <p:spPr>
          <a:xfrm>
            <a:off x="6076950" y="1581150"/>
            <a:ext cx="19050" cy="44767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xample right type"/>
          <p:cNvSpPr txBox="1"/>
          <p:nvPr/>
        </p:nvSpPr>
        <p:spPr>
          <a:xfrm>
            <a:off x="6486525" y="1600200"/>
            <a:ext cx="485775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C4722A"/>
                </a:solidFill>
                <a:latin typeface="Arial"/>
              </a:rPr>
              <a:t>RESEARCH PARENT</a:t>
            </a:r>
            <a:endParaRPr lang="en-US" sz="1700"/>
          </a:p>
        </p:txBody>
      </p:sp>
      <p:sp>
        <p:nvSpPr>
          <p:cNvPr id="12" name="Example right name"/>
          <p:cNvSpPr txBox="1"/>
          <p:nvPr/>
        </p:nvSpPr>
        <p:spPr>
          <a:xfrm>
            <a:off x="6486525" y="2038350"/>
            <a:ext cx="4857750" cy="600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>
                <a:solidFill>
                  <a:srgbClr val="142B3D"/>
                </a:solidFill>
                <a:latin typeface="Arial"/>
              </a:rPr>
              <a:t>One-day price reversal</a:t>
            </a:r>
            <a:endParaRPr lang="en-US" sz="2600"/>
          </a:p>
        </p:txBody>
      </p:sp>
      <p:sp>
        <p:nvSpPr>
          <p:cNvPr id="13" name="Example right formula"/>
          <p:cNvSpPr txBox="1"/>
          <p:nvPr/>
        </p:nvSpPr>
        <p:spPr>
          <a:xfrm>
            <a:off x="6486525" y="3000375"/>
            <a:ext cx="48577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C4722A"/>
                </a:solidFill>
                <a:latin typeface="Arial"/>
              </a:rPr>
              <a:t>−rank(return[1])</a:t>
            </a:r>
            <a:endParaRPr lang="en-US" sz="2200"/>
          </a:p>
        </p:txBody>
      </p:sp>
      <p:sp>
        <p:nvSpPr>
          <p:cNvPr id="14" name="Example right metrics"/>
          <p:cNvSpPr txBox="1"/>
          <p:nvPr/>
        </p:nvSpPr>
        <p:spPr>
          <a:xfrm>
            <a:off x="6486525" y="4105275"/>
            <a:ext cx="4857750" cy="1314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 dirty="0" err="1">
                <a:solidFill>
                  <a:srgbClr val="243744"/>
                </a:solidFill>
                <a:latin typeface="Arial"/>
              </a:rPr>
              <a:t>RankIC</a:t>
            </a:r>
            <a:r>
              <a:rPr lang="en-US" sz="2000" b="0" dirty="0">
                <a:solidFill>
                  <a:srgbClr val="243744"/>
                </a:solidFill>
                <a:latin typeface="Arial"/>
              </a:rPr>
              <a:t>  0.015</a:t>
            </a:r>
            <a:endParaRPr lang="en-US" sz="2000" dirty="0"/>
          </a:p>
          <a:p>
            <a:pPr algn="l"/>
            <a:r>
              <a:rPr lang="en-US" sz="2000" b="0" dirty="0">
                <a:solidFill>
                  <a:srgbClr val="243744"/>
                </a:solidFill>
                <a:latin typeface="Arial"/>
              </a:rPr>
              <a:t>NW t       1.918</a:t>
            </a:r>
            <a:endParaRPr lang="en-US" sz="2000" dirty="0"/>
          </a:p>
          <a:p>
            <a:pPr algn="l"/>
            <a:r>
              <a:rPr lang="en-US" sz="2000" b="0" dirty="0">
                <a:solidFill>
                  <a:srgbClr val="243744"/>
                </a:solidFill>
                <a:latin typeface="Arial"/>
              </a:rPr>
              <a:t>25 bp Sharpe  −12.474</a:t>
            </a:r>
            <a:endParaRPr lang="en-US" sz="2000" dirty="0"/>
          </a:p>
        </p:txBody>
      </p:sp>
      <p:sp>
        <p:nvSpPr>
          <p:cNvPr id="15" name="Example right decision"/>
          <p:cNvSpPr txBox="1"/>
          <p:nvPr/>
        </p:nvSpPr>
        <p:spPr>
          <a:xfrm>
            <a:off x="6486525" y="5600700"/>
            <a:ext cx="485775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B93F47"/>
                </a:solidFill>
                <a:latin typeface="Arial"/>
              </a:rPr>
              <a:t>Failed the cost gate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Elite factor generation trajectory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12</a:t>
            </a:r>
            <a:endParaRPr lang="en-US" sz="1100"/>
          </a:p>
        </p:txBody>
      </p:sp>
      <p:sp>
        <p:nvSpPr>
          <p:cNvPr id="5" name="Trajectory context"/>
          <p:cNvSpPr txBox="1"/>
          <p:nvPr/>
        </p:nvSpPr>
        <p:spPr>
          <a:xfrm>
            <a:off x="752475" y="1476375"/>
            <a:ext cx="10477500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536672"/>
                </a:solidFill>
                <a:latin typeface="Arial"/>
              </a:rPr>
              <a:t>Luna High Macro and Sol High Micro, research rounds 13–14</a:t>
            </a:r>
            <a:endParaRPr lang="en-US" sz="2000"/>
          </a:p>
        </p:txBody>
      </p:sp>
      <p:sp>
        <p:nvSpPr>
          <p:cNvPr id="6" name="Pivot label"/>
          <p:cNvSpPr txBox="1"/>
          <p:nvPr/>
        </p:nvSpPr>
        <p:spPr>
          <a:xfrm>
            <a:off x="742950" y="2095500"/>
            <a:ext cx="46672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087E86"/>
                </a:solidFill>
                <a:latin typeface="Arial"/>
              </a:rPr>
              <a:t>ROUND 13  /  PIVOT</a:t>
            </a:r>
            <a:endParaRPr lang="en-US" sz="1800"/>
          </a:p>
        </p:txBody>
      </p:sp>
      <p:sp>
        <p:nvSpPr>
          <p:cNvPr id="7" name="Pivot rationale"/>
          <p:cNvSpPr txBox="1"/>
          <p:nvPr/>
        </p:nvSpPr>
        <p:spPr>
          <a:xfrm>
            <a:off x="742950" y="2533650"/>
            <a:ext cx="4695825" cy="781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Macro left repeated reversal repairs for under-tested news attention. Micro tested six proposals; this one became a Parent.</a:t>
            </a:r>
            <a:endParaRPr lang="en-US" sz="1800"/>
          </a:p>
        </p:txBody>
      </p:sp>
      <p:sp>
        <p:nvSpPr>
          <p:cNvPr id="8" name="Parent label"/>
          <p:cNvSpPr txBox="1"/>
          <p:nvPr/>
        </p:nvSpPr>
        <p:spPr>
          <a:xfrm>
            <a:off x="742950" y="3352800"/>
            <a:ext cx="4762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Parent candidate</a:t>
            </a:r>
            <a:endParaRPr lang="en-US" sz="2100"/>
          </a:p>
        </p:txBody>
      </p:sp>
      <p:sp>
        <p:nvSpPr>
          <p:cNvPr id="9" name="Parent ID"/>
          <p:cNvSpPr txBox="1"/>
          <p:nvPr/>
        </p:nvSpPr>
        <p:spPr>
          <a:xfrm>
            <a:off x="742950" y="3667125"/>
            <a:ext cx="495300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underfollowed_profitable_firms</a:t>
            </a:r>
            <a:endParaRPr lang="en-US" sz="1700"/>
          </a:p>
        </p:txBody>
      </p:sp>
      <p:sp>
        <p:nvSpPr>
          <p:cNvPr id="10" name="Parent formula"/>
          <p:cNvSpPr txBox="1"/>
          <p:nvPr/>
        </p:nvSpPr>
        <p:spPr>
          <a:xfrm>
            <a:off x="742950" y="4048125"/>
            <a:ext cx="4953000" cy="666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rank(after_tax_roe) ×</a:t>
            </a:r>
            <a:endParaRPr lang="en-US" sz="1900"/>
          </a:p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[1 − rank(news_volume[20])]</a:t>
            </a:r>
            <a:endParaRPr lang="en-US" sz="1900"/>
          </a:p>
        </p:txBody>
      </p:sp>
      <p:sp>
        <p:nvSpPr>
          <p:cNvPr id="11" name="Lineage divider"/>
          <p:cNvSpPr/>
          <p:nvPr/>
        </p:nvSpPr>
        <p:spPr>
          <a:xfrm>
            <a:off x="6057900" y="2066925"/>
            <a:ext cx="19050" cy="31432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Improve label"/>
          <p:cNvSpPr txBox="1"/>
          <p:nvPr/>
        </p:nvSpPr>
        <p:spPr>
          <a:xfrm>
            <a:off x="6524625" y="2095500"/>
            <a:ext cx="46672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087E86"/>
                </a:solidFill>
                <a:latin typeface="Arial"/>
              </a:rPr>
              <a:t>ROUND 14  /  IMPROVE</a:t>
            </a:r>
            <a:endParaRPr lang="en-US" sz="1800"/>
          </a:p>
        </p:txBody>
      </p:sp>
      <p:sp>
        <p:nvSpPr>
          <p:cNvPr id="13" name="Improve rationale"/>
          <p:cNvSpPr txBox="1"/>
          <p:nvPr/>
        </p:nvSpPr>
        <p:spPr>
          <a:xfrm>
            <a:off x="6524625" y="2533650"/>
            <a:ext cx="4695825" cy="781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Macro targeted weak significance. Micro replaced the product with a rank spread and a 60-day news window.</a:t>
            </a:r>
            <a:endParaRPr lang="en-US" sz="1800"/>
          </a:p>
        </p:txBody>
      </p:sp>
      <p:sp>
        <p:nvSpPr>
          <p:cNvPr id="14" name="Elite label"/>
          <p:cNvSpPr txBox="1"/>
          <p:nvPr/>
        </p:nvSpPr>
        <p:spPr>
          <a:xfrm>
            <a:off x="6524625" y="3352800"/>
            <a:ext cx="4857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Elite candidate</a:t>
            </a:r>
            <a:endParaRPr lang="en-US" sz="2100"/>
          </a:p>
        </p:txBody>
      </p:sp>
      <p:sp>
        <p:nvSpPr>
          <p:cNvPr id="15" name="Elite ID"/>
          <p:cNvSpPr txBox="1"/>
          <p:nvPr/>
        </p:nvSpPr>
        <p:spPr>
          <a:xfrm>
            <a:off x="6524625" y="3667125"/>
            <a:ext cx="485775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slow_attention_profitability_spread</a:t>
            </a:r>
            <a:endParaRPr lang="en-US" sz="1700"/>
          </a:p>
        </p:txBody>
      </p:sp>
      <p:sp>
        <p:nvSpPr>
          <p:cNvPr id="16" name="Elite formula"/>
          <p:cNvSpPr txBox="1"/>
          <p:nvPr/>
        </p:nvSpPr>
        <p:spPr>
          <a:xfrm>
            <a:off x="6524625" y="4048125"/>
            <a:ext cx="4762500" cy="666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rank(after_tax_roe) −</a:t>
            </a:r>
            <a:endParaRPr lang="en-US" sz="1900"/>
          </a:p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rank(news_volume[60])</a:t>
            </a:r>
            <a:endParaRPr lang="en-US" sz="1900"/>
          </a:p>
        </p:txBody>
      </p:sp>
      <p:sp>
        <p:nvSpPr>
          <p:cNvPr id="17" name="Trajectory metric rule"/>
          <p:cNvSpPr/>
          <p:nvPr/>
        </p:nvSpPr>
        <p:spPr>
          <a:xfrm>
            <a:off x="742950" y="4781550"/>
            <a:ext cx="1057275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age 5-day RankIC"/>
          <p:cNvSpPr txBox="1"/>
          <p:nvPr/>
        </p:nvSpPr>
        <p:spPr>
          <a:xfrm>
            <a:off x="781050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5-day RankIC</a:t>
            </a:r>
            <a:endParaRPr lang="en-US" sz="1600"/>
          </a:p>
        </p:txBody>
      </p:sp>
      <p:sp>
        <p:nvSpPr>
          <p:cNvPr id="19" name="Lineage 5-day RankIC values"/>
          <p:cNvSpPr txBox="1"/>
          <p:nvPr/>
        </p:nvSpPr>
        <p:spPr>
          <a:xfrm>
            <a:off x="781050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243744"/>
                </a:solidFill>
                <a:latin typeface="Arial"/>
              </a:rPr>
              <a:t>0.0185 to 0.0199</a:t>
            </a:r>
            <a:endParaRPr lang="en-US" sz="2000"/>
          </a:p>
        </p:txBody>
      </p:sp>
      <p:sp>
        <p:nvSpPr>
          <p:cNvPr id="20" name="Lineage Newey–West t"/>
          <p:cNvSpPr txBox="1"/>
          <p:nvPr/>
        </p:nvSpPr>
        <p:spPr>
          <a:xfrm>
            <a:off x="387667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Newey–West t</a:t>
            </a:r>
            <a:endParaRPr lang="en-US" sz="1600"/>
          </a:p>
        </p:txBody>
      </p:sp>
      <p:sp>
        <p:nvSpPr>
          <p:cNvPr id="21" name="Lineage Newey–West t values"/>
          <p:cNvSpPr txBox="1"/>
          <p:nvPr/>
        </p:nvSpPr>
        <p:spPr>
          <a:xfrm>
            <a:off x="387667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0.493 to 1.079</a:t>
            </a:r>
            <a:endParaRPr lang="en-US" sz="2000"/>
          </a:p>
        </p:txBody>
      </p:sp>
      <p:sp>
        <p:nvSpPr>
          <p:cNvPr id="22" name="Lineage Positive folds"/>
          <p:cNvSpPr txBox="1"/>
          <p:nvPr/>
        </p:nvSpPr>
        <p:spPr>
          <a:xfrm>
            <a:off x="700087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Positive folds</a:t>
            </a:r>
            <a:endParaRPr lang="en-US" sz="1600"/>
          </a:p>
        </p:txBody>
      </p:sp>
      <p:sp>
        <p:nvSpPr>
          <p:cNvPr id="23" name="Lineage Positive folds values"/>
          <p:cNvSpPr txBox="1"/>
          <p:nvPr/>
        </p:nvSpPr>
        <p:spPr>
          <a:xfrm>
            <a:off x="700087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2/3 to 3/3</a:t>
            </a:r>
            <a:endParaRPr lang="en-US" sz="2000"/>
          </a:p>
        </p:txBody>
      </p:sp>
      <p:sp>
        <p:nvSpPr>
          <p:cNvPr id="24" name="Lineage 25 bp Sharpe"/>
          <p:cNvSpPr txBox="1"/>
          <p:nvPr/>
        </p:nvSpPr>
        <p:spPr>
          <a:xfrm>
            <a:off x="957262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25 bp Sharpe</a:t>
            </a:r>
            <a:endParaRPr lang="en-US" sz="1600"/>
          </a:p>
        </p:txBody>
      </p:sp>
      <p:sp>
        <p:nvSpPr>
          <p:cNvPr id="25" name="Lineage 25 bp Sharpe values"/>
          <p:cNvSpPr txBox="1"/>
          <p:nvPr/>
        </p:nvSpPr>
        <p:spPr>
          <a:xfrm>
            <a:off x="957262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0.313 to 0.733</a:t>
            </a:r>
            <a:endParaRPr lang="en-US" sz="2000"/>
          </a:p>
        </p:txBody>
      </p:sp>
      <p:sp>
        <p:nvSpPr>
          <p:cNvPr id="26" name="Trajectory conclusion"/>
          <p:cNvSpPr txBox="1"/>
          <p:nvPr/>
        </p:nvSpPr>
        <p:spPr>
          <a:xfrm>
            <a:off x="752475" y="5943600"/>
            <a:ext cx="10572750" cy="3714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B93F47"/>
                </a:solidFill>
                <a:latin typeface="Arial"/>
              </a:rPr>
              <a:t>Candidate #41 cleared every research Elite gate. The 2016 holdout had not been opened.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2016 final holdout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13</a:t>
            </a:r>
            <a:endParaRPr lang="en-US" sz="1100"/>
          </a:p>
        </p:txBody>
      </p:sp>
      <p:sp>
        <p:nvSpPr>
          <p:cNvPr id="5" name="Frozen factor"/>
          <p:cNvSpPr txBox="1"/>
          <p:nvPr/>
        </p:nvSpPr>
        <p:spPr>
          <a:xfrm>
            <a:off x="742950" y="1466850"/>
            <a:ext cx="1066800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87E86"/>
                </a:solidFill>
                <a:latin typeface="Arial"/>
              </a:rPr>
              <a:t>Frozen factor: </a:t>
            </a:r>
            <a:r>
              <a:rPr lang="en-US" sz="2000" b="1" dirty="0" err="1">
                <a:solidFill>
                  <a:srgbClr val="087E86"/>
                </a:solidFill>
                <a:latin typeface="Arial"/>
              </a:rPr>
              <a:t>slow_attention_profitability_spread</a:t>
            </a:r>
            <a:endParaRPr lang="en-US" sz="2000" dirty="0"/>
          </a:p>
        </p:txBody>
      </p:sp>
      <p:sp>
        <p:nvSpPr>
          <p:cNvPr id="6" name="Holdout column METRIC"/>
          <p:cNvSpPr txBox="1"/>
          <p:nvPr/>
        </p:nvSpPr>
        <p:spPr>
          <a:xfrm>
            <a:off x="742950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METRIC</a:t>
            </a:r>
            <a:endParaRPr lang="en-US" sz="1700"/>
          </a:p>
        </p:txBody>
      </p:sp>
      <p:sp>
        <p:nvSpPr>
          <p:cNvPr id="7" name="Holdout column RESEARCH 2013–15"/>
          <p:cNvSpPr txBox="1"/>
          <p:nvPr/>
        </p:nvSpPr>
        <p:spPr>
          <a:xfrm>
            <a:off x="5076825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RESEARCH 2013–15</a:t>
            </a:r>
            <a:endParaRPr lang="en-US" sz="1700"/>
          </a:p>
        </p:txBody>
      </p:sp>
      <p:sp>
        <p:nvSpPr>
          <p:cNvPr id="8" name="Holdout column FINAL 2016"/>
          <p:cNvSpPr txBox="1"/>
          <p:nvPr/>
        </p:nvSpPr>
        <p:spPr>
          <a:xfrm>
            <a:off x="8448675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 dirty="0">
                <a:solidFill>
                  <a:srgbClr val="B93F47"/>
                </a:solidFill>
                <a:latin typeface="Arial"/>
              </a:rPr>
              <a:t>FINAL 2016</a:t>
            </a:r>
            <a:endParaRPr lang="en-US" sz="1700" dirty="0"/>
          </a:p>
        </p:txBody>
      </p:sp>
      <p:sp>
        <p:nvSpPr>
          <p:cNvPr id="9" name="Holdout table header rule"/>
          <p:cNvSpPr/>
          <p:nvPr/>
        </p:nvSpPr>
        <p:spPr>
          <a:xfrm>
            <a:off x="733425" y="2533650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Holdout metric 0"/>
          <p:cNvSpPr txBox="1"/>
          <p:nvPr/>
        </p:nvSpPr>
        <p:spPr>
          <a:xfrm>
            <a:off x="742950" y="2828925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Five-day RankIC</a:t>
            </a:r>
            <a:endParaRPr lang="en-US" sz="2200"/>
          </a:p>
        </p:txBody>
      </p:sp>
      <p:sp>
        <p:nvSpPr>
          <p:cNvPr id="11" name="Research value 0"/>
          <p:cNvSpPr txBox="1"/>
          <p:nvPr/>
        </p:nvSpPr>
        <p:spPr>
          <a:xfrm>
            <a:off x="5076825" y="2771775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+0.0199</a:t>
            </a:r>
            <a:endParaRPr lang="en-US" sz="2900"/>
          </a:p>
        </p:txBody>
      </p:sp>
      <p:sp>
        <p:nvSpPr>
          <p:cNvPr id="12" name="Holdout value 0"/>
          <p:cNvSpPr txBox="1"/>
          <p:nvPr/>
        </p:nvSpPr>
        <p:spPr>
          <a:xfrm>
            <a:off x="8448675" y="2771775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−0.0049</a:t>
            </a:r>
            <a:endParaRPr lang="en-US" sz="2900"/>
          </a:p>
        </p:txBody>
      </p:sp>
      <p:sp>
        <p:nvSpPr>
          <p:cNvPr id="13" name="Holdout row rule 0"/>
          <p:cNvSpPr/>
          <p:nvPr/>
        </p:nvSpPr>
        <p:spPr>
          <a:xfrm>
            <a:off x="733425" y="33528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Holdout metric 1"/>
          <p:cNvSpPr txBox="1"/>
          <p:nvPr/>
        </p:nvSpPr>
        <p:spPr>
          <a:xfrm>
            <a:off x="742950" y="3562350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Newey–West t</a:t>
            </a:r>
            <a:endParaRPr lang="en-US" sz="2200"/>
          </a:p>
        </p:txBody>
      </p:sp>
      <p:sp>
        <p:nvSpPr>
          <p:cNvPr id="15" name="Research value 1"/>
          <p:cNvSpPr txBox="1"/>
          <p:nvPr/>
        </p:nvSpPr>
        <p:spPr>
          <a:xfrm>
            <a:off x="5076825" y="3505200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+1.079</a:t>
            </a:r>
            <a:endParaRPr lang="en-US" sz="2900"/>
          </a:p>
        </p:txBody>
      </p:sp>
      <p:sp>
        <p:nvSpPr>
          <p:cNvPr id="16" name="Holdout value 1"/>
          <p:cNvSpPr txBox="1"/>
          <p:nvPr/>
        </p:nvSpPr>
        <p:spPr>
          <a:xfrm>
            <a:off x="8448675" y="3505200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−0.686</a:t>
            </a:r>
            <a:endParaRPr lang="en-US" sz="2900"/>
          </a:p>
        </p:txBody>
      </p:sp>
      <p:sp>
        <p:nvSpPr>
          <p:cNvPr id="17" name="Holdout row rule 1"/>
          <p:cNvSpPr/>
          <p:nvPr/>
        </p:nvSpPr>
        <p:spPr>
          <a:xfrm>
            <a:off x="733425" y="408622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Holdout metric 2"/>
          <p:cNvSpPr txBox="1"/>
          <p:nvPr/>
        </p:nvSpPr>
        <p:spPr>
          <a:xfrm>
            <a:off x="742950" y="4295775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25 bp Sharpe</a:t>
            </a:r>
            <a:endParaRPr lang="en-US" sz="2200"/>
          </a:p>
        </p:txBody>
      </p:sp>
      <p:sp>
        <p:nvSpPr>
          <p:cNvPr id="19" name="Research value 2"/>
          <p:cNvSpPr txBox="1"/>
          <p:nvPr/>
        </p:nvSpPr>
        <p:spPr>
          <a:xfrm>
            <a:off x="5076825" y="4238625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+0.733</a:t>
            </a:r>
            <a:endParaRPr lang="en-US" sz="2900"/>
          </a:p>
        </p:txBody>
      </p:sp>
      <p:sp>
        <p:nvSpPr>
          <p:cNvPr id="20" name="Holdout value 2"/>
          <p:cNvSpPr txBox="1"/>
          <p:nvPr/>
        </p:nvSpPr>
        <p:spPr>
          <a:xfrm>
            <a:off x="8448675" y="4238625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−1.637</a:t>
            </a:r>
            <a:endParaRPr lang="en-US" sz="2900"/>
          </a:p>
        </p:txBody>
      </p:sp>
      <p:sp>
        <p:nvSpPr>
          <p:cNvPr id="21" name="Holdout row rule 2"/>
          <p:cNvSpPr/>
          <p:nvPr/>
        </p:nvSpPr>
        <p:spPr>
          <a:xfrm>
            <a:off x="733425" y="48196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oldout metric 3"/>
          <p:cNvSpPr txBox="1"/>
          <p:nvPr/>
        </p:nvSpPr>
        <p:spPr>
          <a:xfrm>
            <a:off x="742950" y="5029200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Daily turnover</a:t>
            </a:r>
            <a:endParaRPr lang="en-US" sz="2200"/>
          </a:p>
        </p:txBody>
      </p:sp>
      <p:sp>
        <p:nvSpPr>
          <p:cNvPr id="23" name="Research value 3"/>
          <p:cNvSpPr txBox="1"/>
          <p:nvPr/>
        </p:nvSpPr>
        <p:spPr>
          <a:xfrm>
            <a:off x="5076825" y="4972050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0.02335</a:t>
            </a:r>
            <a:endParaRPr lang="en-US" sz="2900"/>
          </a:p>
        </p:txBody>
      </p:sp>
      <p:sp>
        <p:nvSpPr>
          <p:cNvPr id="24" name="Holdout value 3"/>
          <p:cNvSpPr txBox="1"/>
          <p:nvPr/>
        </p:nvSpPr>
        <p:spPr>
          <a:xfrm>
            <a:off x="8448675" y="4972050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142B3D"/>
                </a:solidFill>
                <a:latin typeface="Arial"/>
              </a:rPr>
              <a:t>0.02155</a:t>
            </a:r>
            <a:endParaRPr lang="en-US" sz="2900"/>
          </a:p>
        </p:txBody>
      </p:sp>
      <p:sp>
        <p:nvSpPr>
          <p:cNvPr id="25" name="Holdout row rule 3"/>
          <p:cNvSpPr/>
          <p:nvPr/>
        </p:nvSpPr>
        <p:spPr>
          <a:xfrm>
            <a:off x="733425" y="555307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Holdout conclusion"/>
          <p:cNvSpPr txBox="1"/>
          <p:nvPr/>
        </p:nvSpPr>
        <p:spPr>
          <a:xfrm>
            <a:off x="752475" y="5915025"/>
            <a:ext cx="10620375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B93F47"/>
                </a:solidFill>
                <a:latin typeface="Arial"/>
              </a:rPr>
              <a:t>IC was negative at 1, 5 and 10 days. The frozen library was evaluated once; no re-selection followed.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Conclusion and next steps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14</a:t>
            </a:r>
            <a:endParaRPr lang="en-US" sz="1100"/>
          </a:p>
        </p:txBody>
      </p:sp>
      <p:sp>
        <p:nvSpPr>
          <p:cNvPr id="5" name="Conclusion lead"/>
          <p:cNvSpPr txBox="1"/>
          <p:nvPr/>
        </p:nvSpPr>
        <p:spPr>
          <a:xfrm>
            <a:off x="733425" y="1552575"/>
            <a:ext cx="1057275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The process rejected weak economics.</a:t>
            </a:r>
            <a:endParaRPr lang="en-US" sz="3000"/>
          </a:p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The selected factor still failed the final year.</a:t>
            </a:r>
            <a:endParaRPr lang="en-US" sz="3000"/>
          </a:p>
        </p:txBody>
      </p:sp>
      <p:sp>
        <p:nvSpPr>
          <p:cNvPr id="6" name="Demonstrated"/>
          <p:cNvSpPr txBox="1"/>
          <p:nvPr/>
        </p:nvSpPr>
        <p:spPr>
          <a:xfrm>
            <a:off x="752475" y="3124200"/>
            <a:ext cx="5124450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WHAT THIS PROJECT DEMONSTRATES</a:t>
            </a:r>
            <a:endParaRPr lang="en-US" sz="1700"/>
          </a:p>
        </p:txBody>
      </p:sp>
      <p:sp>
        <p:nvSpPr>
          <p:cNvPr id="7" name="Demonstrated details"/>
          <p:cNvSpPr txBox="1"/>
          <p:nvPr/>
        </p:nvSpPr>
        <p:spPr>
          <a:xfrm>
            <a:off x="752475" y="3638550"/>
            <a:ext cx="5143500" cy="160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Constrained LLM proposals and deterministic execution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Explicit reasons for rejection and failed repairs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A frozen, one-shot final evaluation</a:t>
            </a:r>
            <a:endParaRPr lang="en-US" sz="1900"/>
          </a:p>
        </p:txBody>
      </p:sp>
      <p:sp>
        <p:nvSpPr>
          <p:cNvPr id="8" name="Conclusion divider"/>
          <p:cNvSpPr/>
          <p:nvPr/>
        </p:nvSpPr>
        <p:spPr>
          <a:xfrm>
            <a:off x="6057900" y="3048000"/>
            <a:ext cx="19050" cy="232410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Priorities"/>
          <p:cNvSpPr txBox="1"/>
          <p:nvPr/>
        </p:nvSpPr>
        <p:spPr>
          <a:xfrm>
            <a:off x="6505575" y="3124200"/>
            <a:ext cx="4857750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PRIORITIES FOR A LARGER STUDY</a:t>
            </a:r>
            <a:endParaRPr lang="en-US" sz="1700"/>
          </a:p>
        </p:txBody>
      </p:sp>
      <p:sp>
        <p:nvSpPr>
          <p:cNvPr id="10" name="Priorities details"/>
          <p:cNvSpPr txBox="1"/>
          <p:nvPr/>
        </p:nvSpPr>
        <p:spPr>
          <a:xfrm>
            <a:off x="6505575" y="3638550"/>
            <a:ext cx="4762500" cy="160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Historical universe and filing timestamps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Better spread, capacity and execution cost data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Repeated role runs and multiple-testing control</a:t>
            </a:r>
            <a:endParaRPr lang="en-US" sz="1900"/>
          </a:p>
        </p:txBody>
      </p:sp>
      <p:sp>
        <p:nvSpPr>
          <p:cNvPr id="11" name="Closing"/>
          <p:cNvSpPr txBox="1"/>
          <p:nvPr/>
        </p:nvSpPr>
        <p:spPr>
          <a:xfrm>
            <a:off x="742950" y="5743575"/>
            <a:ext cx="105727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B93F47"/>
                </a:solidFill>
                <a:latin typeface="Arial"/>
              </a:rPr>
              <a:t>Passing research gates was useful evidence. The negative 2016 outcome limits any alpha claim.</a:t>
            </a: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Appendix: six-arm outcome ledger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15</a:t>
            </a:r>
            <a:endParaRPr lang="en-US" sz="1100"/>
          </a:p>
        </p:txBody>
      </p:sp>
      <p:sp>
        <p:nvSpPr>
          <p:cNvPr id="5" name="Backup note"/>
          <p:cNvSpPr txBox="1"/>
          <p:nvPr/>
        </p:nvSpPr>
        <p:spPr>
          <a:xfrm>
            <a:off x="752475" y="1476375"/>
            <a:ext cx="1066800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All counts are from the completed final experiment. Costs are estimates from recorded API tokens.</a:t>
            </a:r>
            <a:endParaRPr lang="en-US" sz="1900"/>
          </a:p>
        </p:txBody>
      </p:sp>
      <p:sp>
        <p:nvSpPr>
          <p:cNvPr id="6" name="Appendix header ARM"/>
          <p:cNvSpPr txBox="1"/>
          <p:nvPr/>
        </p:nvSpPr>
        <p:spPr>
          <a:xfrm>
            <a:off x="762000" y="2152650"/>
            <a:ext cx="38100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ARM</a:t>
            </a:r>
            <a:endParaRPr lang="en-US" sz="1600"/>
          </a:p>
        </p:txBody>
      </p:sp>
      <p:sp>
        <p:nvSpPr>
          <p:cNvPr id="7" name="Appendix header TESTED"/>
          <p:cNvSpPr txBox="1"/>
          <p:nvPr/>
        </p:nvSpPr>
        <p:spPr>
          <a:xfrm>
            <a:off x="4762500" y="2152650"/>
            <a:ext cx="14287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TESTED</a:t>
            </a:r>
            <a:endParaRPr lang="en-US" sz="1600"/>
          </a:p>
        </p:txBody>
      </p:sp>
      <p:sp>
        <p:nvSpPr>
          <p:cNvPr id="8" name="Appendix header CLUSTERS"/>
          <p:cNvSpPr txBox="1"/>
          <p:nvPr/>
        </p:nvSpPr>
        <p:spPr>
          <a:xfrm>
            <a:off x="6410325" y="2152650"/>
            <a:ext cx="17145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CLUSTERS</a:t>
            </a:r>
            <a:endParaRPr lang="en-US" sz="1600"/>
          </a:p>
        </p:txBody>
      </p:sp>
      <p:sp>
        <p:nvSpPr>
          <p:cNvPr id="9" name="Appendix header ELITES"/>
          <p:cNvSpPr txBox="1"/>
          <p:nvPr/>
        </p:nvSpPr>
        <p:spPr>
          <a:xfrm>
            <a:off x="8239125" y="2152650"/>
            <a:ext cx="1381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ELITES</a:t>
            </a:r>
            <a:endParaRPr lang="en-US" sz="1600"/>
          </a:p>
        </p:txBody>
      </p:sp>
      <p:sp>
        <p:nvSpPr>
          <p:cNvPr id="10" name="Appendix header API COST"/>
          <p:cNvSpPr txBox="1"/>
          <p:nvPr/>
        </p:nvSpPr>
        <p:spPr>
          <a:xfrm>
            <a:off x="9810750" y="2152650"/>
            <a:ext cx="1619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API COST</a:t>
            </a:r>
            <a:endParaRPr lang="en-US" sz="1600"/>
          </a:p>
        </p:txBody>
      </p:sp>
      <p:sp>
        <p:nvSpPr>
          <p:cNvPr id="11" name="Appendix header rule"/>
          <p:cNvSpPr/>
          <p:nvPr/>
        </p:nvSpPr>
        <p:spPr>
          <a:xfrm>
            <a:off x="762000" y="2552700"/>
            <a:ext cx="10620375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ppendix row 0 col 0"/>
          <p:cNvSpPr txBox="1"/>
          <p:nvPr/>
        </p:nvSpPr>
        <p:spPr>
          <a:xfrm>
            <a:off x="762000" y="27051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Fixed deterministic</a:t>
            </a:r>
            <a:endParaRPr lang="en-US" sz="1900"/>
          </a:p>
        </p:txBody>
      </p:sp>
      <p:sp>
        <p:nvSpPr>
          <p:cNvPr id="13" name="Appendix row 0 col 1"/>
          <p:cNvSpPr txBox="1"/>
          <p:nvPr/>
        </p:nvSpPr>
        <p:spPr>
          <a:xfrm>
            <a:off x="4762500" y="27051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33</a:t>
            </a:r>
            <a:endParaRPr lang="en-US" sz="1900"/>
          </a:p>
        </p:txBody>
      </p:sp>
      <p:sp>
        <p:nvSpPr>
          <p:cNvPr id="14" name="Appendix row 0 col 2"/>
          <p:cNvSpPr txBox="1"/>
          <p:nvPr/>
        </p:nvSpPr>
        <p:spPr>
          <a:xfrm>
            <a:off x="6410325" y="27051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</a:t>
            </a:r>
            <a:endParaRPr lang="en-US" sz="1900"/>
          </a:p>
        </p:txBody>
      </p:sp>
      <p:sp>
        <p:nvSpPr>
          <p:cNvPr id="15" name="Appendix row 0 col 3"/>
          <p:cNvSpPr txBox="1"/>
          <p:nvPr/>
        </p:nvSpPr>
        <p:spPr>
          <a:xfrm>
            <a:off x="8239125" y="27051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16" name="Appendix row 0 col 4"/>
          <p:cNvSpPr txBox="1"/>
          <p:nvPr/>
        </p:nvSpPr>
        <p:spPr>
          <a:xfrm>
            <a:off x="9810750" y="27051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—</a:t>
            </a:r>
            <a:endParaRPr lang="en-US" sz="1900"/>
          </a:p>
        </p:txBody>
      </p:sp>
      <p:sp>
        <p:nvSpPr>
          <p:cNvPr id="17" name="Appendix row line 0"/>
          <p:cNvSpPr/>
          <p:nvPr/>
        </p:nvSpPr>
        <p:spPr>
          <a:xfrm>
            <a:off x="762000" y="31623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ppendix row 1 col 0"/>
          <p:cNvSpPr txBox="1"/>
          <p:nvPr/>
        </p:nvSpPr>
        <p:spPr>
          <a:xfrm>
            <a:off x="762000" y="32194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Adaptive deterministic</a:t>
            </a:r>
            <a:endParaRPr lang="en-US" sz="1900"/>
          </a:p>
        </p:txBody>
      </p:sp>
      <p:sp>
        <p:nvSpPr>
          <p:cNvPr id="19" name="Appendix row 1 col 1"/>
          <p:cNvSpPr txBox="1"/>
          <p:nvPr/>
        </p:nvSpPr>
        <p:spPr>
          <a:xfrm>
            <a:off x="4762500" y="32194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0" name="Appendix row 1 col 2"/>
          <p:cNvSpPr txBox="1"/>
          <p:nvPr/>
        </p:nvSpPr>
        <p:spPr>
          <a:xfrm>
            <a:off x="6410325" y="32194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17</a:t>
            </a:r>
            <a:endParaRPr lang="en-US" sz="1900"/>
          </a:p>
        </p:txBody>
      </p:sp>
      <p:sp>
        <p:nvSpPr>
          <p:cNvPr id="21" name="Appendix row 1 col 3"/>
          <p:cNvSpPr txBox="1"/>
          <p:nvPr/>
        </p:nvSpPr>
        <p:spPr>
          <a:xfrm>
            <a:off x="8239125" y="32194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22" name="Appendix row 1 col 4"/>
          <p:cNvSpPr txBox="1"/>
          <p:nvPr/>
        </p:nvSpPr>
        <p:spPr>
          <a:xfrm>
            <a:off x="9810750" y="32194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—</a:t>
            </a:r>
            <a:endParaRPr lang="en-US" sz="1900"/>
          </a:p>
        </p:txBody>
      </p:sp>
      <p:sp>
        <p:nvSpPr>
          <p:cNvPr id="23" name="Appendix row line 1"/>
          <p:cNvSpPr/>
          <p:nvPr/>
        </p:nvSpPr>
        <p:spPr>
          <a:xfrm>
            <a:off x="762000" y="36766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ppendix row 2 col 0"/>
          <p:cNvSpPr txBox="1"/>
          <p:nvPr/>
        </p:nvSpPr>
        <p:spPr>
          <a:xfrm>
            <a:off x="762000" y="37338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/ Luna</a:t>
            </a:r>
            <a:endParaRPr lang="en-US" sz="1900"/>
          </a:p>
        </p:txBody>
      </p:sp>
      <p:sp>
        <p:nvSpPr>
          <p:cNvPr id="25" name="Appendix row 2 col 1"/>
          <p:cNvSpPr txBox="1"/>
          <p:nvPr/>
        </p:nvSpPr>
        <p:spPr>
          <a:xfrm>
            <a:off x="4762500" y="37338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6" name="Appendix row 2 col 2"/>
          <p:cNvSpPr txBox="1"/>
          <p:nvPr/>
        </p:nvSpPr>
        <p:spPr>
          <a:xfrm>
            <a:off x="6410325" y="37338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14</a:t>
            </a:r>
            <a:endParaRPr lang="en-US" sz="1900"/>
          </a:p>
        </p:txBody>
      </p:sp>
      <p:sp>
        <p:nvSpPr>
          <p:cNvPr id="27" name="Appendix row 2 col 3"/>
          <p:cNvSpPr txBox="1"/>
          <p:nvPr/>
        </p:nvSpPr>
        <p:spPr>
          <a:xfrm>
            <a:off x="8239125" y="37338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28" name="Appendix row 2 col 4"/>
          <p:cNvSpPr txBox="1"/>
          <p:nvPr/>
        </p:nvSpPr>
        <p:spPr>
          <a:xfrm>
            <a:off x="9810750" y="37338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$0.066</a:t>
            </a:r>
            <a:endParaRPr lang="en-US" sz="1900"/>
          </a:p>
        </p:txBody>
      </p:sp>
      <p:sp>
        <p:nvSpPr>
          <p:cNvPr id="29" name="Appendix row line 2"/>
          <p:cNvSpPr/>
          <p:nvPr/>
        </p:nvSpPr>
        <p:spPr>
          <a:xfrm>
            <a:off x="762000" y="41910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ppendix row 3 col 0"/>
          <p:cNvSpPr txBox="1"/>
          <p:nvPr/>
        </p:nvSpPr>
        <p:spPr>
          <a:xfrm>
            <a:off x="762000" y="42481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/ Luna</a:t>
            </a:r>
            <a:endParaRPr lang="en-US" sz="1900"/>
          </a:p>
        </p:txBody>
      </p:sp>
      <p:sp>
        <p:nvSpPr>
          <p:cNvPr id="31" name="Appendix row 3 col 1"/>
          <p:cNvSpPr txBox="1"/>
          <p:nvPr/>
        </p:nvSpPr>
        <p:spPr>
          <a:xfrm>
            <a:off x="4762500" y="42481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2" name="Appendix row 3 col 2"/>
          <p:cNvSpPr txBox="1"/>
          <p:nvPr/>
        </p:nvSpPr>
        <p:spPr>
          <a:xfrm>
            <a:off x="6410325" y="42481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15</a:t>
            </a:r>
            <a:endParaRPr lang="en-US" sz="1900"/>
          </a:p>
        </p:txBody>
      </p:sp>
      <p:sp>
        <p:nvSpPr>
          <p:cNvPr id="33" name="Appendix row 3 col 3"/>
          <p:cNvSpPr txBox="1"/>
          <p:nvPr/>
        </p:nvSpPr>
        <p:spPr>
          <a:xfrm>
            <a:off x="8239125" y="42481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34" name="Appendix row 3 col 4"/>
          <p:cNvSpPr txBox="1"/>
          <p:nvPr/>
        </p:nvSpPr>
        <p:spPr>
          <a:xfrm>
            <a:off x="9810750" y="42481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$0.686</a:t>
            </a:r>
            <a:endParaRPr lang="en-US" sz="1900"/>
          </a:p>
        </p:txBody>
      </p:sp>
      <p:sp>
        <p:nvSpPr>
          <p:cNvPr id="35" name="Appendix row line 3"/>
          <p:cNvSpPr/>
          <p:nvPr/>
        </p:nvSpPr>
        <p:spPr>
          <a:xfrm>
            <a:off x="762000" y="47053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Appendix row 4 col 0"/>
          <p:cNvSpPr txBox="1"/>
          <p:nvPr/>
        </p:nvSpPr>
        <p:spPr>
          <a:xfrm>
            <a:off x="762000" y="47625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Luna / Sol</a:t>
            </a:r>
            <a:endParaRPr lang="en-US" sz="1900"/>
          </a:p>
        </p:txBody>
      </p:sp>
      <p:sp>
        <p:nvSpPr>
          <p:cNvPr id="37" name="Appendix row 4 col 1"/>
          <p:cNvSpPr txBox="1"/>
          <p:nvPr/>
        </p:nvSpPr>
        <p:spPr>
          <a:xfrm>
            <a:off x="4762500" y="47625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8" name="Appendix row 4 col 2"/>
          <p:cNvSpPr txBox="1"/>
          <p:nvPr/>
        </p:nvSpPr>
        <p:spPr>
          <a:xfrm>
            <a:off x="6410325" y="47625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20</a:t>
            </a:r>
            <a:endParaRPr lang="en-US" sz="1900"/>
          </a:p>
        </p:txBody>
      </p:sp>
      <p:sp>
        <p:nvSpPr>
          <p:cNvPr id="39" name="Appendix row 4 col 3"/>
          <p:cNvSpPr txBox="1"/>
          <p:nvPr/>
        </p:nvSpPr>
        <p:spPr>
          <a:xfrm>
            <a:off x="8239125" y="47625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1</a:t>
            </a:r>
            <a:endParaRPr lang="en-US" sz="1900"/>
          </a:p>
        </p:txBody>
      </p:sp>
      <p:sp>
        <p:nvSpPr>
          <p:cNvPr id="40" name="Appendix row 4 col 4"/>
          <p:cNvSpPr txBox="1"/>
          <p:nvPr/>
        </p:nvSpPr>
        <p:spPr>
          <a:xfrm>
            <a:off x="9810750" y="47625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$0.995</a:t>
            </a:r>
            <a:endParaRPr lang="en-US" sz="1900"/>
          </a:p>
        </p:txBody>
      </p:sp>
      <p:sp>
        <p:nvSpPr>
          <p:cNvPr id="41" name="Appendix row line 4"/>
          <p:cNvSpPr/>
          <p:nvPr/>
        </p:nvSpPr>
        <p:spPr>
          <a:xfrm>
            <a:off x="762000" y="52197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Appendix row 5 col 0"/>
          <p:cNvSpPr txBox="1"/>
          <p:nvPr/>
        </p:nvSpPr>
        <p:spPr>
          <a:xfrm>
            <a:off x="762000" y="52768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/ Sol</a:t>
            </a:r>
            <a:endParaRPr lang="en-US" sz="1900"/>
          </a:p>
        </p:txBody>
      </p:sp>
      <p:sp>
        <p:nvSpPr>
          <p:cNvPr id="43" name="Appendix row 5 col 1"/>
          <p:cNvSpPr txBox="1"/>
          <p:nvPr/>
        </p:nvSpPr>
        <p:spPr>
          <a:xfrm>
            <a:off x="4762500" y="52768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44" name="Appendix row 5 col 2"/>
          <p:cNvSpPr txBox="1"/>
          <p:nvPr/>
        </p:nvSpPr>
        <p:spPr>
          <a:xfrm>
            <a:off x="6410325" y="52768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21</a:t>
            </a:r>
            <a:endParaRPr lang="en-US" sz="1900"/>
          </a:p>
        </p:txBody>
      </p:sp>
      <p:sp>
        <p:nvSpPr>
          <p:cNvPr id="45" name="Appendix row 5 col 3"/>
          <p:cNvSpPr txBox="1"/>
          <p:nvPr/>
        </p:nvSpPr>
        <p:spPr>
          <a:xfrm>
            <a:off x="8239125" y="52768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46" name="Appendix row 5 col 4"/>
          <p:cNvSpPr txBox="1"/>
          <p:nvPr/>
        </p:nvSpPr>
        <p:spPr>
          <a:xfrm>
            <a:off x="9810750" y="52768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$1.663</a:t>
            </a:r>
            <a:endParaRPr lang="en-US" sz="1900"/>
          </a:p>
        </p:txBody>
      </p:sp>
      <p:sp>
        <p:nvSpPr>
          <p:cNvPr id="47" name="Appendix row line 5"/>
          <p:cNvSpPr/>
          <p:nvPr/>
        </p:nvSpPr>
        <p:spPr>
          <a:xfrm>
            <a:off x="762000" y="57340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Appendix caveat"/>
          <p:cNvSpPr txBox="1"/>
          <p:nvPr/>
        </p:nvSpPr>
        <p:spPr>
          <a:xfrm>
            <a:off x="762000" y="5981700"/>
            <a:ext cx="1057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Fixed search stopped after 33 candidates. One run per arm cannot estimate expected performance.</a:t>
            </a:r>
            <a:endParaRPr lang="en-US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142B3D"/>
                </a:solidFill>
                <a:latin typeface="Arial"/>
              </a:rPr>
              <a:t>Appendix: operator</a:t>
            </a:r>
            <a:endParaRPr lang="en-US" sz="3200" dirty="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15</a:t>
            </a:r>
            <a:endParaRPr lang="en-US" sz="1100"/>
          </a:p>
        </p:txBody>
      </p:sp>
      <p:sp>
        <p:nvSpPr>
          <p:cNvPr id="11" name="Appendix header rule"/>
          <p:cNvSpPr/>
          <p:nvPr/>
        </p:nvSpPr>
        <p:spPr>
          <a:xfrm>
            <a:off x="762000" y="2552700"/>
            <a:ext cx="10620375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ppendix row line 0"/>
          <p:cNvSpPr/>
          <p:nvPr/>
        </p:nvSpPr>
        <p:spPr>
          <a:xfrm>
            <a:off x="762000" y="31623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ppendix row line 1"/>
          <p:cNvSpPr/>
          <p:nvPr/>
        </p:nvSpPr>
        <p:spPr>
          <a:xfrm>
            <a:off x="762000" y="36766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ppendix row line 2"/>
          <p:cNvSpPr/>
          <p:nvPr/>
        </p:nvSpPr>
        <p:spPr>
          <a:xfrm>
            <a:off x="762000" y="41910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Appendix row line 3"/>
          <p:cNvSpPr/>
          <p:nvPr/>
        </p:nvSpPr>
        <p:spPr>
          <a:xfrm>
            <a:off x="762000" y="47053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Appendix row line 4"/>
          <p:cNvSpPr/>
          <p:nvPr/>
        </p:nvSpPr>
        <p:spPr>
          <a:xfrm>
            <a:off x="762000" y="52197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Appendix row line 5"/>
          <p:cNvSpPr/>
          <p:nvPr/>
        </p:nvSpPr>
        <p:spPr>
          <a:xfrm>
            <a:off x="762000" y="57340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22B3A32-2D86-0A07-8732-3FE29CE1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84" y="1221850"/>
            <a:ext cx="7604892" cy="473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References and audit trail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16</a:t>
            </a:r>
            <a:endParaRPr lang="en-US" sz="1100"/>
          </a:p>
        </p:txBody>
      </p:sp>
      <p:sp>
        <p:nvSpPr>
          <p:cNvPr id="5" name="Reference 1"/>
          <p:cNvSpPr txBox="1"/>
          <p:nvPr/>
        </p:nvSpPr>
        <p:spPr>
          <a:xfrm>
            <a:off x="742950" y="16668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Huang &amp; Fan. Beyond Prompting: An Autonomous Framework for Systematic Factor Investing via Agentic AI. arXiv:2603.14288v1.</a:t>
            </a:r>
            <a:endParaRPr lang="en-US" sz="1800"/>
          </a:p>
        </p:txBody>
      </p:sp>
      <p:sp>
        <p:nvSpPr>
          <p:cNvPr id="6" name="Reference 2"/>
          <p:cNvSpPr txBox="1"/>
          <p:nvPr/>
        </p:nvSpPr>
        <p:spPr>
          <a:xfrm>
            <a:off x="742950" y="23907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XALPHA: A Memory-Driven AI Quant Researcher for Hypothesis-to-Code Alpha Discovery. arXiv:2607.08332v2.</a:t>
            </a:r>
            <a:endParaRPr lang="en-US" sz="1800"/>
          </a:p>
        </p:txBody>
      </p:sp>
      <p:sp>
        <p:nvSpPr>
          <p:cNvPr id="7" name="Reference 3"/>
          <p:cNvSpPr txBox="1"/>
          <p:nvPr/>
        </p:nvSpPr>
        <p:spPr>
          <a:xfrm>
            <a:off x="742950" y="31146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AutoScientist-Quant: Self-Evolving Coding Agents for Automatic Research in Quantitative Investment. arXiv:2608.28632v2.</a:t>
            </a:r>
            <a:endParaRPr lang="en-US" sz="1800"/>
          </a:p>
        </p:txBody>
      </p:sp>
      <p:sp>
        <p:nvSpPr>
          <p:cNvPr id="8" name="Reference 4"/>
          <p:cNvSpPr txBox="1"/>
          <p:nvPr/>
        </p:nvSpPr>
        <p:spPr>
          <a:xfrm>
            <a:off x="742950" y="38385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Project research record: docs/final_experiment_results_gpt6.md</a:t>
            </a:r>
            <a:endParaRPr lang="en-US" sz="1900"/>
          </a:p>
        </p:txBody>
      </p:sp>
      <p:sp>
        <p:nvSpPr>
          <p:cNvPr id="9" name="Reference 5"/>
          <p:cNvSpPr txBox="1"/>
          <p:nvPr/>
        </p:nvSpPr>
        <p:spPr>
          <a:xfrm>
            <a:off x="742950" y="45624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Final out-of-sample report: docs/final_holdout_results.md</a:t>
            </a:r>
            <a:endParaRPr lang="en-US" sz="1900"/>
          </a:p>
        </p:txBody>
      </p:sp>
      <p:sp>
        <p:nvSpPr>
          <p:cNvPr id="10" name="Reference 6"/>
          <p:cNvSpPr txBox="1"/>
          <p:nvPr/>
        </p:nvSpPr>
        <p:spPr>
          <a:xfrm>
            <a:off x="742950" y="52863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Pre-test freeze and result manifests: artifacts/frozen/ and outputs/holdout/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1368</Words>
  <Application>Microsoft Macintosh PowerPoint</Application>
  <PresentationFormat>宽屏</PresentationFormat>
  <Paragraphs>326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Improvement</dc:title>
  <dc:creator>彦锟 朱</dc:creator>
  <cp:lastModifiedBy>彦锟 朱</cp:lastModifiedBy>
  <cp:revision>7</cp:revision>
  <dcterms:created xsi:type="dcterms:W3CDTF">2026-09-24T15:25:19Z</dcterms:created>
  <dcterms:modified xsi:type="dcterms:W3CDTF">2026-09-25T02:40:04Z</dcterms:modified>
</cp:coreProperties>
</file>